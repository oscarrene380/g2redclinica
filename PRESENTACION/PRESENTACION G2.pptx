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Adirek Sans Medium" charset="1" panose="00000000000000000000"/>
      <p:regular r:id="rId17"/>
    </p:embeddedFont>
    <p:embeddedFont>
      <p:font typeface="Inter Medium" charset="1" panose="02000503000000020004"/>
      <p:regular r:id="rId18"/>
    </p:embeddedFont>
    <p:embeddedFont>
      <p:font typeface="Inter" charset="1" panose="020B0502030000000004"/>
      <p:regular r:id="rId19"/>
    </p:embeddedFont>
    <p:embeddedFont>
      <p:font typeface="Adirek Sans Light" charset="1" panose="000000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6F9FA"/>
        </a:solidFill>
      </p:bgPr>
    </p:bg>
    <p:spTree>
      <p:nvGrpSpPr>
        <p:cNvPr id="1" name=""/>
        <p:cNvGrpSpPr/>
        <p:nvPr/>
      </p:nvGrpSpPr>
      <p:grpSpPr>
        <a:xfrm>
          <a:off x="0" y="0"/>
          <a:ext cx="0" cy="0"/>
          <a:chOff x="0" y="0"/>
          <a:chExt cx="0" cy="0"/>
        </a:xfrm>
      </p:grpSpPr>
      <p:sp>
        <p:nvSpPr>
          <p:cNvPr name="Freeform 2" id="2"/>
          <p:cNvSpPr/>
          <p:nvPr/>
        </p:nvSpPr>
        <p:spPr>
          <a:xfrm flipH="false" flipV="false" rot="0">
            <a:off x="10532076" y="1430782"/>
            <a:ext cx="7502550" cy="6902346"/>
          </a:xfrm>
          <a:custGeom>
            <a:avLst/>
            <a:gdLst/>
            <a:ahLst/>
            <a:cxnLst/>
            <a:rect r="r" b="b" t="t" l="l"/>
            <a:pathLst>
              <a:path h="6902346" w="7502550">
                <a:moveTo>
                  <a:pt x="0" y="0"/>
                </a:moveTo>
                <a:lnTo>
                  <a:pt x="7502550" y="0"/>
                </a:lnTo>
                <a:lnTo>
                  <a:pt x="7502550" y="6902346"/>
                </a:lnTo>
                <a:lnTo>
                  <a:pt x="0" y="69023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49062" y="626618"/>
            <a:ext cx="757376" cy="804164"/>
          </a:xfrm>
          <a:custGeom>
            <a:avLst/>
            <a:gdLst/>
            <a:ahLst/>
            <a:cxnLst/>
            <a:rect r="r" b="b" t="t" l="l"/>
            <a:pathLst>
              <a:path h="804164" w="757376">
                <a:moveTo>
                  <a:pt x="0" y="0"/>
                </a:moveTo>
                <a:lnTo>
                  <a:pt x="757376" y="0"/>
                </a:lnTo>
                <a:lnTo>
                  <a:pt x="757376" y="804164"/>
                </a:lnTo>
                <a:lnTo>
                  <a:pt x="0" y="8041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437670" y="3557791"/>
            <a:ext cx="9370109" cy="2838829"/>
          </a:xfrm>
          <a:prstGeom prst="rect">
            <a:avLst/>
          </a:prstGeom>
        </p:spPr>
        <p:txBody>
          <a:bodyPr anchor="t" rtlCol="false" tIns="0" lIns="0" bIns="0" rIns="0">
            <a:spAutoFit/>
          </a:bodyPr>
          <a:lstStyle/>
          <a:p>
            <a:pPr algn="ctr">
              <a:lnSpc>
                <a:spcPts val="7331"/>
              </a:lnSpc>
            </a:pPr>
            <a:r>
              <a:rPr lang="en-US" b="true" sz="7799" spc="-116">
                <a:solidFill>
                  <a:srgbClr val="4B4B4B"/>
                </a:solidFill>
                <a:latin typeface="Adirek Sans Medium"/>
                <a:ea typeface="Adirek Sans Medium"/>
                <a:cs typeface="Adirek Sans Medium"/>
                <a:sym typeface="Adirek Sans Medium"/>
              </a:rPr>
              <a:t>RED DE CLÍNICAS TRAZABILIDAD Y ANÁLISIS DE SERVICIOS MÉDICOS </a:t>
            </a:r>
          </a:p>
        </p:txBody>
      </p:sp>
      <p:sp>
        <p:nvSpPr>
          <p:cNvPr name="TextBox 5" id="5"/>
          <p:cNvSpPr txBox="true"/>
          <p:nvPr/>
        </p:nvSpPr>
        <p:spPr>
          <a:xfrm rot="0">
            <a:off x="2048418" y="836332"/>
            <a:ext cx="3974033" cy="485175"/>
          </a:xfrm>
          <a:prstGeom prst="rect">
            <a:avLst/>
          </a:prstGeom>
        </p:spPr>
        <p:txBody>
          <a:bodyPr anchor="t" rtlCol="false" tIns="0" lIns="0" bIns="0" rIns="0">
            <a:spAutoFit/>
          </a:bodyPr>
          <a:lstStyle/>
          <a:p>
            <a:pPr algn="l" marL="0" indent="0" lvl="0">
              <a:lnSpc>
                <a:spcPts val="3641"/>
              </a:lnSpc>
              <a:spcBef>
                <a:spcPct val="0"/>
              </a:spcBef>
            </a:pPr>
            <a:r>
              <a:rPr lang="en-US" b="true" sz="3468" spc="-69">
                <a:solidFill>
                  <a:srgbClr val="4B4B4B"/>
                </a:solidFill>
                <a:latin typeface="Inter Medium"/>
                <a:ea typeface="Inter Medium"/>
                <a:cs typeface="Inter Medium"/>
                <a:sym typeface="Inter Medium"/>
              </a:rPr>
              <a:t>GRUPO #2</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6F9FA"/>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8229600"/>
            <a:chOff x="0" y="0"/>
            <a:chExt cx="4274726" cy="2167467"/>
          </a:xfrm>
        </p:grpSpPr>
        <p:sp>
          <p:nvSpPr>
            <p:cNvPr name="Freeform 3" id="3"/>
            <p:cNvSpPr/>
            <p:nvPr/>
          </p:nvSpPr>
          <p:spPr>
            <a:xfrm flipH="false" flipV="false" rot="0">
              <a:off x="0" y="0"/>
              <a:ext cx="4274726" cy="2167467"/>
            </a:xfrm>
            <a:custGeom>
              <a:avLst/>
              <a:gdLst/>
              <a:ahLst/>
              <a:cxnLst/>
              <a:rect r="r" b="b" t="t" l="l"/>
              <a:pathLst>
                <a:path h="2167467" w="4274726">
                  <a:moveTo>
                    <a:pt x="24327" y="0"/>
                  </a:moveTo>
                  <a:lnTo>
                    <a:pt x="4250399" y="0"/>
                  </a:lnTo>
                  <a:cubicBezTo>
                    <a:pt x="4263834" y="0"/>
                    <a:pt x="4274726" y="10891"/>
                    <a:pt x="4274726" y="24327"/>
                  </a:cubicBezTo>
                  <a:lnTo>
                    <a:pt x="4274726" y="2143140"/>
                  </a:lnTo>
                  <a:cubicBezTo>
                    <a:pt x="4274726" y="2156575"/>
                    <a:pt x="4263834" y="2167467"/>
                    <a:pt x="4250399" y="2167467"/>
                  </a:cubicBezTo>
                  <a:lnTo>
                    <a:pt x="24327" y="2167467"/>
                  </a:lnTo>
                  <a:cubicBezTo>
                    <a:pt x="10891" y="2167467"/>
                    <a:pt x="0" y="2156575"/>
                    <a:pt x="0" y="2143140"/>
                  </a:cubicBezTo>
                  <a:lnTo>
                    <a:pt x="0" y="24327"/>
                  </a:lnTo>
                  <a:cubicBezTo>
                    <a:pt x="0" y="10891"/>
                    <a:pt x="10891" y="0"/>
                    <a:pt x="24327" y="0"/>
                  </a:cubicBezTo>
                  <a:close/>
                </a:path>
              </a:pathLst>
            </a:custGeom>
            <a:solidFill>
              <a:srgbClr val="C3DCEF"/>
            </a:solidFill>
          </p:spPr>
        </p:sp>
        <p:sp>
          <p:nvSpPr>
            <p:cNvPr name="TextBox 4" id="4"/>
            <p:cNvSpPr txBox="true"/>
            <p:nvPr/>
          </p:nvSpPr>
          <p:spPr>
            <a:xfrm>
              <a:off x="0" y="-38100"/>
              <a:ext cx="4274726" cy="2205567"/>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2874260" y="1450190"/>
            <a:ext cx="12858956" cy="891680"/>
          </a:xfrm>
          <a:prstGeom prst="rect">
            <a:avLst/>
          </a:prstGeom>
        </p:spPr>
        <p:txBody>
          <a:bodyPr anchor="t" rtlCol="false" tIns="0" lIns="0" bIns="0" rIns="0">
            <a:spAutoFit/>
          </a:bodyPr>
          <a:lstStyle/>
          <a:p>
            <a:pPr algn="ctr">
              <a:lnSpc>
                <a:spcPts val="6674"/>
              </a:lnSpc>
            </a:pPr>
            <a:r>
              <a:rPr lang="en-US" b="true" sz="7100" spc="-106">
                <a:solidFill>
                  <a:srgbClr val="4B4B4B"/>
                </a:solidFill>
                <a:latin typeface="Adirek Sans Medium"/>
                <a:ea typeface="Adirek Sans Medium"/>
                <a:cs typeface="Adirek Sans Medium"/>
                <a:sym typeface="Adirek Sans Medium"/>
              </a:rPr>
              <a:t>INTRODUCCIÓN</a:t>
            </a:r>
          </a:p>
        </p:txBody>
      </p:sp>
      <p:sp>
        <p:nvSpPr>
          <p:cNvPr name="TextBox 6" id="6"/>
          <p:cNvSpPr txBox="true"/>
          <p:nvPr/>
        </p:nvSpPr>
        <p:spPr>
          <a:xfrm rot="0">
            <a:off x="1906863" y="2900983"/>
            <a:ext cx="15049331" cy="2796240"/>
          </a:xfrm>
          <a:prstGeom prst="rect">
            <a:avLst/>
          </a:prstGeom>
        </p:spPr>
        <p:txBody>
          <a:bodyPr anchor="t" rtlCol="false" tIns="0" lIns="0" bIns="0" rIns="0">
            <a:spAutoFit/>
          </a:bodyPr>
          <a:lstStyle/>
          <a:p>
            <a:pPr algn="l" marL="0" indent="0" lvl="0">
              <a:lnSpc>
                <a:spcPts val="3688"/>
              </a:lnSpc>
            </a:pPr>
            <a:r>
              <a:rPr lang="en-US" sz="2859">
                <a:solidFill>
                  <a:srgbClr val="343434"/>
                </a:solidFill>
                <a:latin typeface="Inter"/>
                <a:ea typeface="Inter"/>
                <a:cs typeface="Inter"/>
                <a:sym typeface="Inter"/>
              </a:rPr>
              <a:t>El</a:t>
            </a:r>
            <a:r>
              <a:rPr lang="en-US" sz="2859" u="none">
                <a:solidFill>
                  <a:srgbClr val="343434"/>
                </a:solidFill>
                <a:latin typeface="Inter"/>
                <a:ea typeface="Inter"/>
                <a:cs typeface="Inter"/>
                <a:sym typeface="Inter"/>
              </a:rPr>
              <a:t> presente documento describe el desarrollo integral del Caso 2, orientado al diseño de un proceso ETL y un modelo dimensional para una red de clínicas privadas que operan en distintas regiones del país. Estas instituciones ofrecen una variedad de servicios médicos, procedimientos ambulatorios y exámenes de laboratorio, generando diariamente un volumen considerable de información. A partir de un sistema OLTP que registra las atenciones médicas, procedimientos, pagos y coberturas.</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6F9FA"/>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8229600"/>
            <a:chOff x="0" y="0"/>
            <a:chExt cx="4274726" cy="2167467"/>
          </a:xfrm>
        </p:grpSpPr>
        <p:sp>
          <p:nvSpPr>
            <p:cNvPr name="Freeform 3" id="3"/>
            <p:cNvSpPr/>
            <p:nvPr/>
          </p:nvSpPr>
          <p:spPr>
            <a:xfrm flipH="false" flipV="false" rot="0">
              <a:off x="0" y="0"/>
              <a:ext cx="4274726" cy="2167467"/>
            </a:xfrm>
            <a:custGeom>
              <a:avLst/>
              <a:gdLst/>
              <a:ahLst/>
              <a:cxnLst/>
              <a:rect r="r" b="b" t="t" l="l"/>
              <a:pathLst>
                <a:path h="2167467" w="4274726">
                  <a:moveTo>
                    <a:pt x="24327" y="0"/>
                  </a:moveTo>
                  <a:lnTo>
                    <a:pt x="4250399" y="0"/>
                  </a:lnTo>
                  <a:cubicBezTo>
                    <a:pt x="4263834" y="0"/>
                    <a:pt x="4274726" y="10891"/>
                    <a:pt x="4274726" y="24327"/>
                  </a:cubicBezTo>
                  <a:lnTo>
                    <a:pt x="4274726" y="2143140"/>
                  </a:lnTo>
                  <a:cubicBezTo>
                    <a:pt x="4274726" y="2156575"/>
                    <a:pt x="4263834" y="2167467"/>
                    <a:pt x="4250399" y="2167467"/>
                  </a:cubicBezTo>
                  <a:lnTo>
                    <a:pt x="24327" y="2167467"/>
                  </a:lnTo>
                  <a:cubicBezTo>
                    <a:pt x="10891" y="2167467"/>
                    <a:pt x="0" y="2156575"/>
                    <a:pt x="0" y="2143140"/>
                  </a:cubicBezTo>
                  <a:lnTo>
                    <a:pt x="0" y="24327"/>
                  </a:lnTo>
                  <a:cubicBezTo>
                    <a:pt x="0" y="10891"/>
                    <a:pt x="10891" y="0"/>
                    <a:pt x="24327" y="0"/>
                  </a:cubicBezTo>
                  <a:close/>
                </a:path>
              </a:pathLst>
            </a:custGeom>
            <a:solidFill>
              <a:srgbClr val="C3DCEF"/>
            </a:solidFill>
          </p:spPr>
        </p:sp>
        <p:sp>
          <p:nvSpPr>
            <p:cNvPr name="TextBox 4" id="4"/>
            <p:cNvSpPr txBox="true"/>
            <p:nvPr/>
          </p:nvSpPr>
          <p:spPr>
            <a:xfrm>
              <a:off x="0" y="-38100"/>
              <a:ext cx="4274726" cy="2205567"/>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2874260" y="1450190"/>
            <a:ext cx="12858956" cy="891680"/>
          </a:xfrm>
          <a:prstGeom prst="rect">
            <a:avLst/>
          </a:prstGeom>
        </p:spPr>
        <p:txBody>
          <a:bodyPr anchor="t" rtlCol="false" tIns="0" lIns="0" bIns="0" rIns="0">
            <a:spAutoFit/>
          </a:bodyPr>
          <a:lstStyle/>
          <a:p>
            <a:pPr algn="ctr">
              <a:lnSpc>
                <a:spcPts val="6674"/>
              </a:lnSpc>
            </a:pPr>
            <a:r>
              <a:rPr lang="en-US" b="true" sz="7100" spc="-106">
                <a:solidFill>
                  <a:srgbClr val="4B4B4B"/>
                </a:solidFill>
                <a:latin typeface="Adirek Sans Medium"/>
                <a:ea typeface="Adirek Sans Medium"/>
                <a:cs typeface="Adirek Sans Medium"/>
                <a:sym typeface="Adirek Sans Medium"/>
              </a:rPr>
              <a:t>PLANTEAMIENTO DEL PROBLEMA</a:t>
            </a:r>
          </a:p>
        </p:txBody>
      </p:sp>
      <p:sp>
        <p:nvSpPr>
          <p:cNvPr name="TextBox 6" id="6"/>
          <p:cNvSpPr txBox="true"/>
          <p:nvPr/>
        </p:nvSpPr>
        <p:spPr>
          <a:xfrm rot="0">
            <a:off x="1779073" y="2725271"/>
            <a:ext cx="15049331" cy="5129865"/>
          </a:xfrm>
          <a:prstGeom prst="rect">
            <a:avLst/>
          </a:prstGeom>
        </p:spPr>
        <p:txBody>
          <a:bodyPr anchor="t" rtlCol="false" tIns="0" lIns="0" bIns="0" rIns="0">
            <a:spAutoFit/>
          </a:bodyPr>
          <a:lstStyle/>
          <a:p>
            <a:pPr algn="l" marL="0" indent="0" lvl="0">
              <a:lnSpc>
                <a:spcPts val="3688"/>
              </a:lnSpc>
            </a:pPr>
            <a:r>
              <a:rPr lang="en-US" sz="2859">
                <a:solidFill>
                  <a:srgbClr val="343434"/>
                </a:solidFill>
                <a:latin typeface="Inter"/>
                <a:ea typeface="Inter"/>
                <a:cs typeface="Inter"/>
                <a:sym typeface="Inter"/>
              </a:rPr>
              <a:t>El</a:t>
            </a:r>
            <a:r>
              <a:rPr lang="en-US" sz="2859" u="none">
                <a:solidFill>
                  <a:srgbClr val="343434"/>
                </a:solidFill>
                <a:latin typeface="Inter"/>
                <a:ea typeface="Inter"/>
                <a:cs typeface="Inter"/>
                <a:sym typeface="Inter"/>
              </a:rPr>
              <a:t> sistema actual de registro clínico, basado en un entorno OLTP, fue diseñado para soportar transacciones médicas como la creación de atenciones, el registro de pacientes, médicos y servicios. Sin embargo, este sistema carece de una infraestructura analítica que permita responder preguntas fundamentales tales como: ¿qué unidad médica es la más eficiente?, ¿qué médicos presentan mayores índices de productividad?, o ¿cuál es el comportamiento de los costos por tipo de servicio? Esta carencia de análisis consolidado genera limitaciones en la planeación estratégica, impidiendo identificar patrones de comportamiento, tendencias de consumo y oportunidades de mejora. El problema central radica en la falta de integración entre los datos operativos y las herramientas de análisis que faciliten una visión global del desempeño institucional.</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6F9FA"/>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8229600"/>
            <a:chOff x="0" y="0"/>
            <a:chExt cx="4274726" cy="2167467"/>
          </a:xfrm>
        </p:grpSpPr>
        <p:sp>
          <p:nvSpPr>
            <p:cNvPr name="Freeform 3" id="3"/>
            <p:cNvSpPr/>
            <p:nvPr/>
          </p:nvSpPr>
          <p:spPr>
            <a:xfrm flipH="false" flipV="false" rot="0">
              <a:off x="0" y="0"/>
              <a:ext cx="4274726" cy="2167467"/>
            </a:xfrm>
            <a:custGeom>
              <a:avLst/>
              <a:gdLst/>
              <a:ahLst/>
              <a:cxnLst/>
              <a:rect r="r" b="b" t="t" l="l"/>
              <a:pathLst>
                <a:path h="2167467" w="4274726">
                  <a:moveTo>
                    <a:pt x="24327" y="0"/>
                  </a:moveTo>
                  <a:lnTo>
                    <a:pt x="4250399" y="0"/>
                  </a:lnTo>
                  <a:cubicBezTo>
                    <a:pt x="4263834" y="0"/>
                    <a:pt x="4274726" y="10891"/>
                    <a:pt x="4274726" y="24327"/>
                  </a:cubicBezTo>
                  <a:lnTo>
                    <a:pt x="4274726" y="2143140"/>
                  </a:lnTo>
                  <a:cubicBezTo>
                    <a:pt x="4274726" y="2156575"/>
                    <a:pt x="4263834" y="2167467"/>
                    <a:pt x="4250399" y="2167467"/>
                  </a:cubicBezTo>
                  <a:lnTo>
                    <a:pt x="24327" y="2167467"/>
                  </a:lnTo>
                  <a:cubicBezTo>
                    <a:pt x="10891" y="2167467"/>
                    <a:pt x="0" y="2156575"/>
                    <a:pt x="0" y="2143140"/>
                  </a:cubicBezTo>
                  <a:lnTo>
                    <a:pt x="0" y="24327"/>
                  </a:lnTo>
                  <a:cubicBezTo>
                    <a:pt x="0" y="10891"/>
                    <a:pt x="10891" y="0"/>
                    <a:pt x="24327" y="0"/>
                  </a:cubicBezTo>
                  <a:close/>
                </a:path>
              </a:pathLst>
            </a:custGeom>
            <a:solidFill>
              <a:srgbClr val="C3DCEF"/>
            </a:solidFill>
          </p:spPr>
        </p:sp>
        <p:sp>
          <p:nvSpPr>
            <p:cNvPr name="TextBox 4" id="4"/>
            <p:cNvSpPr txBox="true"/>
            <p:nvPr/>
          </p:nvSpPr>
          <p:spPr>
            <a:xfrm>
              <a:off x="0" y="-38100"/>
              <a:ext cx="4274726" cy="2205567"/>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2874260" y="1450190"/>
            <a:ext cx="12858956" cy="891680"/>
          </a:xfrm>
          <a:prstGeom prst="rect">
            <a:avLst/>
          </a:prstGeom>
        </p:spPr>
        <p:txBody>
          <a:bodyPr anchor="t" rtlCol="false" tIns="0" lIns="0" bIns="0" rIns="0">
            <a:spAutoFit/>
          </a:bodyPr>
          <a:lstStyle/>
          <a:p>
            <a:pPr algn="ctr">
              <a:lnSpc>
                <a:spcPts val="6674"/>
              </a:lnSpc>
            </a:pPr>
            <a:r>
              <a:rPr lang="en-US" b="true" sz="7100" spc="-106">
                <a:solidFill>
                  <a:srgbClr val="4B4B4B"/>
                </a:solidFill>
                <a:latin typeface="Adirek Sans Medium"/>
                <a:ea typeface="Adirek Sans Medium"/>
                <a:cs typeface="Adirek Sans Medium"/>
                <a:sym typeface="Adirek Sans Medium"/>
              </a:rPr>
              <a:t>JUSTIFICACIÓN</a:t>
            </a:r>
          </a:p>
        </p:txBody>
      </p:sp>
      <p:sp>
        <p:nvSpPr>
          <p:cNvPr name="TextBox 6" id="6"/>
          <p:cNvSpPr txBox="true"/>
          <p:nvPr/>
        </p:nvSpPr>
        <p:spPr>
          <a:xfrm rot="0">
            <a:off x="1779073" y="2725271"/>
            <a:ext cx="15049331" cy="4663140"/>
          </a:xfrm>
          <a:prstGeom prst="rect">
            <a:avLst/>
          </a:prstGeom>
        </p:spPr>
        <p:txBody>
          <a:bodyPr anchor="t" rtlCol="false" tIns="0" lIns="0" bIns="0" rIns="0">
            <a:spAutoFit/>
          </a:bodyPr>
          <a:lstStyle/>
          <a:p>
            <a:pPr algn="l" marL="0" indent="0" lvl="0">
              <a:lnSpc>
                <a:spcPts val="3688"/>
              </a:lnSpc>
            </a:pPr>
            <a:r>
              <a:rPr lang="en-US" sz="2859">
                <a:solidFill>
                  <a:srgbClr val="343434"/>
                </a:solidFill>
                <a:latin typeface="Inter"/>
                <a:ea typeface="Inter"/>
                <a:cs typeface="Inter"/>
                <a:sym typeface="Inter"/>
              </a:rPr>
              <a:t>Implementar un</a:t>
            </a:r>
            <a:r>
              <a:rPr lang="en-US" sz="2859" u="none">
                <a:solidFill>
                  <a:srgbClr val="343434"/>
                </a:solidFill>
                <a:latin typeface="Inter"/>
                <a:ea typeface="Inter"/>
                <a:cs typeface="Inter"/>
                <a:sym typeface="Inter"/>
              </a:rPr>
              <a:t> sistema de inteligencia de negocios es esencial para transformar los datos dispersos en información estratégica que fortalezca la gestión médica y administrativa. El uso de un modelo dimensional facilita la exploración de información desde diferentes perspectivas por paciente, médico, unidad, servicio y permite identificar desviaciones, cuellos de botella y oportunidades de optimización. Asimismo, el uso de reportes y dashboards dinámicos contribuye a la toma de decisiones basada en evidencia. La adopción de esta solución no solo mejora el control de costos y la eficiencia operativa, sino que también eleva la calidad del servicio brindado a los pacientes, al permitir una planificación más precisa de recursos y una gestión transparente de las coberturas médicas.</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6F9FA"/>
        </a:solidFill>
      </p:bgPr>
    </p:bg>
    <p:spTree>
      <p:nvGrpSpPr>
        <p:cNvPr id="1" name=""/>
        <p:cNvGrpSpPr/>
        <p:nvPr/>
      </p:nvGrpSpPr>
      <p:grpSpPr>
        <a:xfrm>
          <a:off x="0" y="0"/>
          <a:ext cx="0" cy="0"/>
          <a:chOff x="0" y="0"/>
          <a:chExt cx="0" cy="0"/>
        </a:xfrm>
      </p:grpSpPr>
      <p:sp>
        <p:nvSpPr>
          <p:cNvPr name="TextBox 2" id="2"/>
          <p:cNvSpPr txBox="true"/>
          <p:nvPr/>
        </p:nvSpPr>
        <p:spPr>
          <a:xfrm rot="0">
            <a:off x="2714522" y="829067"/>
            <a:ext cx="12858956" cy="891680"/>
          </a:xfrm>
          <a:prstGeom prst="rect">
            <a:avLst/>
          </a:prstGeom>
        </p:spPr>
        <p:txBody>
          <a:bodyPr anchor="t" rtlCol="false" tIns="0" lIns="0" bIns="0" rIns="0">
            <a:spAutoFit/>
          </a:bodyPr>
          <a:lstStyle/>
          <a:p>
            <a:pPr algn="ctr">
              <a:lnSpc>
                <a:spcPts val="6674"/>
              </a:lnSpc>
            </a:pPr>
            <a:r>
              <a:rPr lang="en-US" b="true" sz="7100" spc="-106">
                <a:solidFill>
                  <a:srgbClr val="4B4B4B"/>
                </a:solidFill>
                <a:latin typeface="Adirek Sans Medium"/>
                <a:ea typeface="Adirek Sans Medium"/>
                <a:cs typeface="Adirek Sans Medium"/>
                <a:sym typeface="Adirek Sans Medium"/>
              </a:rPr>
              <a:t>OBJETIVOS</a:t>
            </a:r>
          </a:p>
        </p:txBody>
      </p:sp>
      <p:grpSp>
        <p:nvGrpSpPr>
          <p:cNvPr name="Group 3" id="3"/>
          <p:cNvGrpSpPr/>
          <p:nvPr/>
        </p:nvGrpSpPr>
        <p:grpSpPr>
          <a:xfrm rot="0">
            <a:off x="875926" y="1991862"/>
            <a:ext cx="8032785" cy="8092793"/>
            <a:chOff x="0" y="0"/>
            <a:chExt cx="2115631" cy="2131435"/>
          </a:xfrm>
        </p:grpSpPr>
        <p:sp>
          <p:nvSpPr>
            <p:cNvPr name="Freeform 4" id="4"/>
            <p:cNvSpPr/>
            <p:nvPr/>
          </p:nvSpPr>
          <p:spPr>
            <a:xfrm flipH="false" flipV="false" rot="0">
              <a:off x="0" y="0"/>
              <a:ext cx="2115631" cy="2131435"/>
            </a:xfrm>
            <a:custGeom>
              <a:avLst/>
              <a:gdLst/>
              <a:ahLst/>
              <a:cxnLst/>
              <a:rect r="r" b="b" t="t" l="l"/>
              <a:pathLst>
                <a:path h="2131435" w="2115631">
                  <a:moveTo>
                    <a:pt x="49153" y="0"/>
                  </a:moveTo>
                  <a:lnTo>
                    <a:pt x="2066478" y="0"/>
                  </a:lnTo>
                  <a:cubicBezTo>
                    <a:pt x="2079514" y="0"/>
                    <a:pt x="2092016" y="5179"/>
                    <a:pt x="2101234" y="14397"/>
                  </a:cubicBezTo>
                  <a:cubicBezTo>
                    <a:pt x="2110452" y="23615"/>
                    <a:pt x="2115631" y="36117"/>
                    <a:pt x="2115631" y="49153"/>
                  </a:cubicBezTo>
                  <a:lnTo>
                    <a:pt x="2115631" y="2082282"/>
                  </a:lnTo>
                  <a:cubicBezTo>
                    <a:pt x="2115631" y="2095318"/>
                    <a:pt x="2110452" y="2107821"/>
                    <a:pt x="2101234" y="2117039"/>
                  </a:cubicBezTo>
                  <a:cubicBezTo>
                    <a:pt x="2092016" y="2126257"/>
                    <a:pt x="2079514" y="2131435"/>
                    <a:pt x="2066478" y="2131435"/>
                  </a:cubicBezTo>
                  <a:lnTo>
                    <a:pt x="49153" y="2131435"/>
                  </a:lnTo>
                  <a:cubicBezTo>
                    <a:pt x="36117" y="2131435"/>
                    <a:pt x="23615" y="2126257"/>
                    <a:pt x="14397" y="2117039"/>
                  </a:cubicBezTo>
                  <a:cubicBezTo>
                    <a:pt x="5179" y="2107821"/>
                    <a:pt x="0" y="2095318"/>
                    <a:pt x="0" y="2082282"/>
                  </a:cubicBezTo>
                  <a:lnTo>
                    <a:pt x="0" y="49153"/>
                  </a:lnTo>
                  <a:cubicBezTo>
                    <a:pt x="0" y="36117"/>
                    <a:pt x="5179" y="23615"/>
                    <a:pt x="14397" y="14397"/>
                  </a:cubicBezTo>
                  <a:cubicBezTo>
                    <a:pt x="23615" y="5179"/>
                    <a:pt x="36117" y="0"/>
                    <a:pt x="49153" y="0"/>
                  </a:cubicBezTo>
                  <a:close/>
                </a:path>
              </a:pathLst>
            </a:custGeom>
            <a:solidFill>
              <a:srgbClr val="C3DCEF"/>
            </a:solidFill>
          </p:spPr>
        </p:sp>
        <p:sp>
          <p:nvSpPr>
            <p:cNvPr name="TextBox 5" id="5"/>
            <p:cNvSpPr txBox="true"/>
            <p:nvPr/>
          </p:nvSpPr>
          <p:spPr>
            <a:xfrm>
              <a:off x="0" y="-38100"/>
              <a:ext cx="2115631" cy="216953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9440888" y="1991862"/>
            <a:ext cx="8216784" cy="8092793"/>
            <a:chOff x="0" y="0"/>
            <a:chExt cx="2164091" cy="2131435"/>
          </a:xfrm>
        </p:grpSpPr>
        <p:sp>
          <p:nvSpPr>
            <p:cNvPr name="Freeform 7" id="7"/>
            <p:cNvSpPr/>
            <p:nvPr/>
          </p:nvSpPr>
          <p:spPr>
            <a:xfrm flipH="false" flipV="false" rot="0">
              <a:off x="0" y="0"/>
              <a:ext cx="2164091" cy="2131435"/>
            </a:xfrm>
            <a:custGeom>
              <a:avLst/>
              <a:gdLst/>
              <a:ahLst/>
              <a:cxnLst/>
              <a:rect r="r" b="b" t="t" l="l"/>
              <a:pathLst>
                <a:path h="2131435" w="2164091">
                  <a:moveTo>
                    <a:pt x="48053" y="0"/>
                  </a:moveTo>
                  <a:lnTo>
                    <a:pt x="2116039" y="0"/>
                  </a:lnTo>
                  <a:cubicBezTo>
                    <a:pt x="2128783" y="0"/>
                    <a:pt x="2141006" y="5063"/>
                    <a:pt x="2150017" y="14074"/>
                  </a:cubicBezTo>
                  <a:cubicBezTo>
                    <a:pt x="2159029" y="23086"/>
                    <a:pt x="2164091" y="35308"/>
                    <a:pt x="2164091" y="48053"/>
                  </a:cubicBezTo>
                  <a:lnTo>
                    <a:pt x="2164091" y="2083383"/>
                  </a:lnTo>
                  <a:cubicBezTo>
                    <a:pt x="2164091" y="2096127"/>
                    <a:pt x="2159029" y="2108349"/>
                    <a:pt x="2150017" y="2117361"/>
                  </a:cubicBezTo>
                  <a:cubicBezTo>
                    <a:pt x="2141006" y="2126373"/>
                    <a:pt x="2128783" y="2131435"/>
                    <a:pt x="2116039" y="2131435"/>
                  </a:cubicBezTo>
                  <a:lnTo>
                    <a:pt x="48053" y="2131435"/>
                  </a:lnTo>
                  <a:cubicBezTo>
                    <a:pt x="35308" y="2131435"/>
                    <a:pt x="23086" y="2126373"/>
                    <a:pt x="14074" y="2117361"/>
                  </a:cubicBezTo>
                  <a:cubicBezTo>
                    <a:pt x="5063" y="2108349"/>
                    <a:pt x="0" y="2096127"/>
                    <a:pt x="0" y="2083383"/>
                  </a:cubicBezTo>
                  <a:lnTo>
                    <a:pt x="0" y="48053"/>
                  </a:lnTo>
                  <a:cubicBezTo>
                    <a:pt x="0" y="35308"/>
                    <a:pt x="5063" y="23086"/>
                    <a:pt x="14074" y="14074"/>
                  </a:cubicBezTo>
                  <a:cubicBezTo>
                    <a:pt x="23086" y="5063"/>
                    <a:pt x="35308" y="0"/>
                    <a:pt x="48053" y="0"/>
                  </a:cubicBezTo>
                  <a:close/>
                </a:path>
              </a:pathLst>
            </a:custGeom>
            <a:solidFill>
              <a:srgbClr val="DFE9EF"/>
            </a:solidFill>
          </p:spPr>
        </p:sp>
        <p:sp>
          <p:nvSpPr>
            <p:cNvPr name="TextBox 8" id="8"/>
            <p:cNvSpPr txBox="true"/>
            <p:nvPr/>
          </p:nvSpPr>
          <p:spPr>
            <a:xfrm>
              <a:off x="0" y="-38100"/>
              <a:ext cx="2164091" cy="2169535"/>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280854" y="3394184"/>
            <a:ext cx="7627858" cy="2981769"/>
          </a:xfrm>
          <a:prstGeom prst="rect">
            <a:avLst/>
          </a:prstGeom>
        </p:spPr>
        <p:txBody>
          <a:bodyPr anchor="t" rtlCol="false" tIns="0" lIns="0" bIns="0" rIns="0">
            <a:spAutoFit/>
          </a:bodyPr>
          <a:lstStyle/>
          <a:p>
            <a:pPr algn="l" marL="0" indent="0" lvl="0">
              <a:lnSpc>
                <a:spcPts val="4757"/>
              </a:lnSpc>
              <a:spcBef>
                <a:spcPct val="0"/>
              </a:spcBef>
            </a:pPr>
            <a:r>
              <a:rPr lang="en-US" sz="3687">
                <a:solidFill>
                  <a:srgbClr val="343434"/>
                </a:solidFill>
                <a:latin typeface="Inter"/>
                <a:ea typeface="Inter"/>
                <a:cs typeface="Inter"/>
                <a:sym typeface="Inter"/>
              </a:rPr>
              <a:t>I</a:t>
            </a:r>
            <a:r>
              <a:rPr lang="en-US" sz="3687" strike="noStrike" u="none">
                <a:solidFill>
                  <a:srgbClr val="343434"/>
                </a:solidFill>
                <a:latin typeface="Inter"/>
                <a:ea typeface="Inter"/>
                <a:cs typeface="Inter"/>
                <a:sym typeface="Inter"/>
              </a:rPr>
              <a:t>mpl</a:t>
            </a:r>
            <a:r>
              <a:rPr lang="en-US" sz="3687" strike="noStrike" u="none">
                <a:solidFill>
                  <a:srgbClr val="343434"/>
                </a:solidFill>
                <a:latin typeface="Inter"/>
                <a:ea typeface="Inter"/>
                <a:cs typeface="Inter"/>
                <a:sym typeface="Inter"/>
              </a:rPr>
              <a:t>e</a:t>
            </a:r>
            <a:r>
              <a:rPr lang="en-US" sz="3687" strike="noStrike" u="none">
                <a:solidFill>
                  <a:srgbClr val="343434"/>
                </a:solidFill>
                <a:latin typeface="Inter"/>
                <a:ea typeface="Inter"/>
                <a:cs typeface="Inter"/>
                <a:sym typeface="Inter"/>
              </a:rPr>
              <a:t>ment</a:t>
            </a:r>
            <a:r>
              <a:rPr lang="en-US" sz="3687" strike="noStrike" u="none">
                <a:solidFill>
                  <a:srgbClr val="343434"/>
                </a:solidFill>
                <a:latin typeface="Inter"/>
                <a:ea typeface="Inter"/>
                <a:cs typeface="Inter"/>
                <a:sym typeface="Inter"/>
              </a:rPr>
              <a:t>a</a:t>
            </a:r>
            <a:r>
              <a:rPr lang="en-US" sz="3687" strike="noStrike" u="none">
                <a:solidFill>
                  <a:srgbClr val="343434"/>
                </a:solidFill>
                <a:latin typeface="Inter"/>
                <a:ea typeface="Inter"/>
                <a:cs typeface="Inter"/>
                <a:sym typeface="Inter"/>
              </a:rPr>
              <a:t>r </a:t>
            </a:r>
            <a:r>
              <a:rPr lang="en-US" sz="3687" strike="noStrike" u="none">
                <a:solidFill>
                  <a:srgbClr val="343434"/>
                </a:solidFill>
                <a:latin typeface="Inter"/>
                <a:ea typeface="Inter"/>
                <a:cs typeface="Inter"/>
                <a:sym typeface="Inter"/>
              </a:rPr>
              <a:t>un</a:t>
            </a:r>
            <a:r>
              <a:rPr lang="en-US" sz="3687" strike="noStrike" u="none">
                <a:solidFill>
                  <a:srgbClr val="343434"/>
                </a:solidFill>
                <a:latin typeface="Inter"/>
                <a:ea typeface="Inter"/>
                <a:cs typeface="Inter"/>
                <a:sym typeface="Inter"/>
              </a:rPr>
              <a:t>a</a:t>
            </a:r>
            <a:r>
              <a:rPr lang="en-US" sz="3687" strike="noStrike" u="none">
                <a:solidFill>
                  <a:srgbClr val="343434"/>
                </a:solidFill>
                <a:latin typeface="Inter"/>
                <a:ea typeface="Inter"/>
                <a:cs typeface="Inter"/>
                <a:sym typeface="Inter"/>
              </a:rPr>
              <a:t> </a:t>
            </a:r>
            <a:r>
              <a:rPr lang="en-US" sz="3687" strike="noStrike" u="none">
                <a:solidFill>
                  <a:srgbClr val="343434"/>
                </a:solidFill>
                <a:latin typeface="Inter"/>
                <a:ea typeface="Inter"/>
                <a:cs typeface="Inter"/>
                <a:sym typeface="Inter"/>
              </a:rPr>
              <a:t>s</a:t>
            </a:r>
            <a:r>
              <a:rPr lang="en-US" sz="3687" strike="noStrike" u="none">
                <a:solidFill>
                  <a:srgbClr val="343434"/>
                </a:solidFill>
                <a:latin typeface="Inter"/>
                <a:ea typeface="Inter"/>
                <a:cs typeface="Inter"/>
                <a:sym typeface="Inter"/>
              </a:rPr>
              <a:t>olu</a:t>
            </a:r>
            <a:r>
              <a:rPr lang="en-US" sz="3687" strike="noStrike" u="none">
                <a:solidFill>
                  <a:srgbClr val="343434"/>
                </a:solidFill>
                <a:latin typeface="Inter"/>
                <a:ea typeface="Inter"/>
                <a:cs typeface="Inter"/>
                <a:sym typeface="Inter"/>
              </a:rPr>
              <a:t>ci</a:t>
            </a:r>
            <a:r>
              <a:rPr lang="en-US" sz="3687" strike="noStrike" u="none">
                <a:solidFill>
                  <a:srgbClr val="343434"/>
                </a:solidFill>
                <a:latin typeface="Inter"/>
                <a:ea typeface="Inter"/>
                <a:cs typeface="Inter"/>
                <a:sym typeface="Inter"/>
              </a:rPr>
              <a:t>ó</a:t>
            </a:r>
            <a:r>
              <a:rPr lang="en-US" sz="3687" strike="noStrike" u="none">
                <a:solidFill>
                  <a:srgbClr val="343434"/>
                </a:solidFill>
                <a:latin typeface="Inter"/>
                <a:ea typeface="Inter"/>
                <a:cs typeface="Inter"/>
                <a:sym typeface="Inter"/>
              </a:rPr>
              <a:t>n </a:t>
            </a:r>
            <a:r>
              <a:rPr lang="en-US" sz="3687" strike="noStrike" u="none">
                <a:solidFill>
                  <a:srgbClr val="343434"/>
                </a:solidFill>
                <a:latin typeface="Inter"/>
                <a:ea typeface="Inter"/>
                <a:cs typeface="Inter"/>
                <a:sym typeface="Inter"/>
              </a:rPr>
              <a:t>d</a:t>
            </a:r>
            <a:r>
              <a:rPr lang="en-US" sz="3687" strike="noStrike" u="none">
                <a:solidFill>
                  <a:srgbClr val="343434"/>
                </a:solidFill>
                <a:latin typeface="Inter"/>
                <a:ea typeface="Inter"/>
                <a:cs typeface="Inter"/>
                <a:sym typeface="Inter"/>
              </a:rPr>
              <a:t>e </a:t>
            </a:r>
            <a:r>
              <a:rPr lang="en-US" sz="3687" strike="noStrike" u="none">
                <a:solidFill>
                  <a:srgbClr val="343434"/>
                </a:solidFill>
                <a:latin typeface="Inter"/>
                <a:ea typeface="Inter"/>
                <a:cs typeface="Inter"/>
                <a:sym typeface="Inter"/>
              </a:rPr>
              <a:t>Bu</a:t>
            </a:r>
            <a:r>
              <a:rPr lang="en-US" sz="3687" strike="noStrike" u="none">
                <a:solidFill>
                  <a:srgbClr val="343434"/>
                </a:solidFill>
                <a:latin typeface="Inter"/>
                <a:ea typeface="Inter"/>
                <a:cs typeface="Inter"/>
                <a:sym typeface="Inter"/>
              </a:rPr>
              <a:t>s</a:t>
            </a:r>
            <a:r>
              <a:rPr lang="en-US" sz="3687" strike="noStrike" u="none">
                <a:solidFill>
                  <a:srgbClr val="343434"/>
                </a:solidFill>
                <a:latin typeface="Inter"/>
                <a:ea typeface="Inter"/>
                <a:cs typeface="Inter"/>
                <a:sym typeface="Inter"/>
              </a:rPr>
              <a:t>in</a:t>
            </a:r>
            <a:r>
              <a:rPr lang="en-US" sz="3687" strike="noStrike" u="none">
                <a:solidFill>
                  <a:srgbClr val="343434"/>
                </a:solidFill>
                <a:latin typeface="Inter"/>
                <a:ea typeface="Inter"/>
                <a:cs typeface="Inter"/>
                <a:sym typeface="Inter"/>
              </a:rPr>
              <a:t>e</a:t>
            </a:r>
            <a:r>
              <a:rPr lang="en-US" sz="3687" strike="noStrike" u="none">
                <a:solidFill>
                  <a:srgbClr val="343434"/>
                </a:solidFill>
                <a:latin typeface="Inter"/>
                <a:ea typeface="Inter"/>
                <a:cs typeface="Inter"/>
                <a:sym typeface="Inter"/>
              </a:rPr>
              <a:t>s</a:t>
            </a:r>
            <a:r>
              <a:rPr lang="en-US" sz="3687" strike="noStrike" u="none">
                <a:solidFill>
                  <a:srgbClr val="343434"/>
                </a:solidFill>
                <a:latin typeface="Inter"/>
                <a:ea typeface="Inter"/>
                <a:cs typeface="Inter"/>
                <a:sym typeface="Inter"/>
              </a:rPr>
              <a:t>s </a:t>
            </a:r>
            <a:r>
              <a:rPr lang="en-US" sz="3687" strike="noStrike" u="none">
                <a:solidFill>
                  <a:srgbClr val="343434"/>
                </a:solidFill>
                <a:latin typeface="Inter"/>
                <a:ea typeface="Inter"/>
                <a:cs typeface="Inter"/>
                <a:sym typeface="Inter"/>
              </a:rPr>
              <a:t>In</a:t>
            </a:r>
            <a:r>
              <a:rPr lang="en-US" sz="3687" strike="noStrike" u="none">
                <a:solidFill>
                  <a:srgbClr val="343434"/>
                </a:solidFill>
                <a:latin typeface="Inter"/>
                <a:ea typeface="Inter"/>
                <a:cs typeface="Inter"/>
                <a:sym typeface="Inter"/>
              </a:rPr>
              <a:t>te</a:t>
            </a:r>
            <a:r>
              <a:rPr lang="en-US" sz="3687" strike="noStrike" u="none">
                <a:solidFill>
                  <a:srgbClr val="343434"/>
                </a:solidFill>
                <a:latin typeface="Inter"/>
                <a:ea typeface="Inter"/>
                <a:cs typeface="Inter"/>
                <a:sym typeface="Inter"/>
              </a:rPr>
              <a:t>ll</a:t>
            </a:r>
            <a:r>
              <a:rPr lang="en-US" sz="3687" strike="noStrike" u="none">
                <a:solidFill>
                  <a:srgbClr val="343434"/>
                </a:solidFill>
                <a:latin typeface="Inter"/>
                <a:ea typeface="Inter"/>
                <a:cs typeface="Inter"/>
                <a:sym typeface="Inter"/>
              </a:rPr>
              <a:t>i</a:t>
            </a:r>
            <a:r>
              <a:rPr lang="en-US" sz="3687" strike="noStrike" u="none">
                <a:solidFill>
                  <a:srgbClr val="343434"/>
                </a:solidFill>
                <a:latin typeface="Inter"/>
                <a:ea typeface="Inter"/>
                <a:cs typeface="Inter"/>
                <a:sym typeface="Inter"/>
              </a:rPr>
              <a:t>ge</a:t>
            </a:r>
            <a:r>
              <a:rPr lang="en-US" sz="3687" strike="noStrike" u="none">
                <a:solidFill>
                  <a:srgbClr val="343434"/>
                </a:solidFill>
                <a:latin typeface="Inter"/>
                <a:ea typeface="Inter"/>
                <a:cs typeface="Inter"/>
                <a:sym typeface="Inter"/>
              </a:rPr>
              <a:t>nc</a:t>
            </a:r>
            <a:r>
              <a:rPr lang="en-US" sz="3687" strike="noStrike" u="none">
                <a:solidFill>
                  <a:srgbClr val="343434"/>
                </a:solidFill>
                <a:latin typeface="Inter"/>
                <a:ea typeface="Inter"/>
                <a:cs typeface="Inter"/>
                <a:sym typeface="Inter"/>
              </a:rPr>
              <a:t>e</a:t>
            </a:r>
            <a:r>
              <a:rPr lang="en-US" sz="3687" strike="noStrike" u="none">
                <a:solidFill>
                  <a:srgbClr val="343434"/>
                </a:solidFill>
                <a:latin typeface="Inter"/>
                <a:ea typeface="Inter"/>
                <a:cs typeface="Inter"/>
                <a:sym typeface="Inter"/>
              </a:rPr>
              <a:t> </a:t>
            </a:r>
            <a:r>
              <a:rPr lang="en-US" sz="3687" strike="noStrike" u="none">
                <a:solidFill>
                  <a:srgbClr val="343434"/>
                </a:solidFill>
                <a:latin typeface="Inter"/>
                <a:ea typeface="Inter"/>
                <a:cs typeface="Inter"/>
                <a:sym typeface="Inter"/>
              </a:rPr>
              <a:t>p</a:t>
            </a:r>
            <a:r>
              <a:rPr lang="en-US" sz="3687" strike="noStrike" u="none">
                <a:solidFill>
                  <a:srgbClr val="343434"/>
                </a:solidFill>
                <a:latin typeface="Inter"/>
                <a:ea typeface="Inter"/>
                <a:cs typeface="Inter"/>
                <a:sym typeface="Inter"/>
              </a:rPr>
              <a:t>ar</a:t>
            </a:r>
            <a:r>
              <a:rPr lang="en-US" sz="3687" strike="noStrike" u="none">
                <a:solidFill>
                  <a:srgbClr val="343434"/>
                </a:solidFill>
                <a:latin typeface="Inter"/>
                <a:ea typeface="Inter"/>
                <a:cs typeface="Inter"/>
                <a:sym typeface="Inter"/>
              </a:rPr>
              <a:t>a</a:t>
            </a:r>
            <a:r>
              <a:rPr lang="en-US" sz="3687" strike="noStrike" u="none">
                <a:solidFill>
                  <a:srgbClr val="343434"/>
                </a:solidFill>
                <a:latin typeface="Inter"/>
                <a:ea typeface="Inter"/>
                <a:cs typeface="Inter"/>
                <a:sym typeface="Inter"/>
              </a:rPr>
              <a:t> el an</a:t>
            </a:r>
            <a:r>
              <a:rPr lang="en-US" sz="3687" strike="noStrike" u="none">
                <a:solidFill>
                  <a:srgbClr val="343434"/>
                </a:solidFill>
                <a:latin typeface="Inter"/>
                <a:ea typeface="Inter"/>
                <a:cs typeface="Inter"/>
                <a:sym typeface="Inter"/>
              </a:rPr>
              <a:t>á</a:t>
            </a:r>
            <a:r>
              <a:rPr lang="en-US" sz="3687" strike="noStrike" u="none">
                <a:solidFill>
                  <a:srgbClr val="343434"/>
                </a:solidFill>
                <a:latin typeface="Inter"/>
                <a:ea typeface="Inter"/>
                <a:cs typeface="Inter"/>
                <a:sym typeface="Inter"/>
              </a:rPr>
              <a:t>li</a:t>
            </a:r>
            <a:r>
              <a:rPr lang="en-US" sz="3687" strike="noStrike" u="none">
                <a:solidFill>
                  <a:srgbClr val="343434"/>
                </a:solidFill>
                <a:latin typeface="Inter"/>
                <a:ea typeface="Inter"/>
                <a:cs typeface="Inter"/>
                <a:sym typeface="Inter"/>
              </a:rPr>
              <a:t>s</a:t>
            </a:r>
            <a:r>
              <a:rPr lang="en-US" sz="3687" strike="noStrike" u="none">
                <a:solidFill>
                  <a:srgbClr val="343434"/>
                </a:solidFill>
                <a:latin typeface="Inter"/>
                <a:ea typeface="Inter"/>
                <a:cs typeface="Inter"/>
                <a:sym typeface="Inter"/>
              </a:rPr>
              <a:t>is de la </a:t>
            </a:r>
            <a:r>
              <a:rPr lang="en-US" sz="3687" strike="noStrike" u="none">
                <a:solidFill>
                  <a:srgbClr val="343434"/>
                </a:solidFill>
                <a:latin typeface="Inter"/>
                <a:ea typeface="Inter"/>
                <a:cs typeface="Inter"/>
                <a:sym typeface="Inter"/>
              </a:rPr>
              <a:t>ge</a:t>
            </a:r>
            <a:r>
              <a:rPr lang="en-US" sz="3687" strike="noStrike" u="none">
                <a:solidFill>
                  <a:srgbClr val="343434"/>
                </a:solidFill>
                <a:latin typeface="Inter"/>
                <a:ea typeface="Inter"/>
                <a:cs typeface="Inter"/>
                <a:sym typeface="Inter"/>
              </a:rPr>
              <a:t>sti</a:t>
            </a:r>
            <a:r>
              <a:rPr lang="en-US" sz="3687" strike="noStrike" u="none">
                <a:solidFill>
                  <a:srgbClr val="343434"/>
                </a:solidFill>
                <a:latin typeface="Inter"/>
                <a:ea typeface="Inter"/>
                <a:cs typeface="Inter"/>
                <a:sym typeface="Inter"/>
              </a:rPr>
              <a:t>ón</a:t>
            </a:r>
            <a:r>
              <a:rPr lang="en-US" sz="3687" strike="noStrike" u="none">
                <a:solidFill>
                  <a:srgbClr val="343434"/>
                </a:solidFill>
                <a:latin typeface="Inter"/>
                <a:ea typeface="Inter"/>
                <a:cs typeface="Inter"/>
                <a:sym typeface="Inter"/>
              </a:rPr>
              <a:t> o</a:t>
            </a:r>
            <a:r>
              <a:rPr lang="en-US" sz="3687" strike="noStrike" u="none">
                <a:solidFill>
                  <a:srgbClr val="343434"/>
                </a:solidFill>
                <a:latin typeface="Inter"/>
                <a:ea typeface="Inter"/>
                <a:cs typeface="Inter"/>
                <a:sym typeface="Inter"/>
              </a:rPr>
              <a:t>p</a:t>
            </a:r>
            <a:r>
              <a:rPr lang="en-US" sz="3687" strike="noStrike" u="none">
                <a:solidFill>
                  <a:srgbClr val="343434"/>
                </a:solidFill>
                <a:latin typeface="Inter"/>
                <a:ea typeface="Inter"/>
                <a:cs typeface="Inter"/>
                <a:sym typeface="Inter"/>
              </a:rPr>
              <a:t>e</a:t>
            </a:r>
            <a:r>
              <a:rPr lang="en-US" sz="3687" strike="noStrike" u="none">
                <a:solidFill>
                  <a:srgbClr val="343434"/>
                </a:solidFill>
                <a:latin typeface="Inter"/>
                <a:ea typeface="Inter"/>
                <a:cs typeface="Inter"/>
                <a:sym typeface="Inter"/>
              </a:rPr>
              <a:t>r</a:t>
            </a:r>
            <a:r>
              <a:rPr lang="en-US" sz="3687" strike="noStrike" u="none">
                <a:solidFill>
                  <a:srgbClr val="343434"/>
                </a:solidFill>
                <a:latin typeface="Inter"/>
                <a:ea typeface="Inter"/>
                <a:cs typeface="Inter"/>
                <a:sym typeface="Inter"/>
              </a:rPr>
              <a:t>ati</a:t>
            </a:r>
            <a:r>
              <a:rPr lang="en-US" sz="3687" strike="noStrike" u="none">
                <a:solidFill>
                  <a:srgbClr val="343434"/>
                </a:solidFill>
                <a:latin typeface="Inter"/>
                <a:ea typeface="Inter"/>
                <a:cs typeface="Inter"/>
                <a:sym typeface="Inter"/>
              </a:rPr>
              <a:t>v</a:t>
            </a:r>
            <a:r>
              <a:rPr lang="en-US" sz="3687" strike="noStrike" u="none">
                <a:solidFill>
                  <a:srgbClr val="343434"/>
                </a:solidFill>
                <a:latin typeface="Inter"/>
                <a:ea typeface="Inter"/>
                <a:cs typeface="Inter"/>
                <a:sym typeface="Inter"/>
              </a:rPr>
              <a:t>a </a:t>
            </a:r>
            <a:r>
              <a:rPr lang="en-US" sz="3687" strike="noStrike" u="none">
                <a:solidFill>
                  <a:srgbClr val="343434"/>
                </a:solidFill>
                <a:latin typeface="Inter"/>
                <a:ea typeface="Inter"/>
                <a:cs typeface="Inter"/>
                <a:sym typeface="Inter"/>
              </a:rPr>
              <a:t>y</a:t>
            </a:r>
            <a:r>
              <a:rPr lang="en-US" sz="3687" strike="noStrike" u="none">
                <a:solidFill>
                  <a:srgbClr val="343434"/>
                </a:solidFill>
                <a:latin typeface="Inter"/>
                <a:ea typeface="Inter"/>
                <a:cs typeface="Inter"/>
                <a:sym typeface="Inter"/>
              </a:rPr>
              <a:t> </a:t>
            </a:r>
            <a:r>
              <a:rPr lang="en-US" sz="3687" strike="noStrike" u="none">
                <a:solidFill>
                  <a:srgbClr val="343434"/>
                </a:solidFill>
                <a:latin typeface="Inter"/>
                <a:ea typeface="Inter"/>
                <a:cs typeface="Inter"/>
                <a:sym typeface="Inter"/>
              </a:rPr>
              <a:t>f</a:t>
            </a:r>
            <a:r>
              <a:rPr lang="en-US" sz="3687" strike="noStrike" u="none">
                <a:solidFill>
                  <a:srgbClr val="343434"/>
                </a:solidFill>
                <a:latin typeface="Inter"/>
                <a:ea typeface="Inter"/>
                <a:cs typeface="Inter"/>
                <a:sym typeface="Inter"/>
              </a:rPr>
              <a:t>in</a:t>
            </a:r>
            <a:r>
              <a:rPr lang="en-US" sz="3687" strike="noStrike" u="none">
                <a:solidFill>
                  <a:srgbClr val="343434"/>
                </a:solidFill>
                <a:latin typeface="Inter"/>
                <a:ea typeface="Inter"/>
                <a:cs typeface="Inter"/>
                <a:sym typeface="Inter"/>
              </a:rPr>
              <a:t>a</a:t>
            </a:r>
            <a:r>
              <a:rPr lang="en-US" sz="3687" strike="noStrike" u="none">
                <a:solidFill>
                  <a:srgbClr val="343434"/>
                </a:solidFill>
                <a:latin typeface="Inter"/>
                <a:ea typeface="Inter"/>
                <a:cs typeface="Inter"/>
                <a:sym typeface="Inter"/>
              </a:rPr>
              <a:t>n</a:t>
            </a:r>
            <a:r>
              <a:rPr lang="en-US" sz="3687" strike="noStrike" u="none">
                <a:solidFill>
                  <a:srgbClr val="343434"/>
                </a:solidFill>
                <a:latin typeface="Inter"/>
                <a:ea typeface="Inter"/>
                <a:cs typeface="Inter"/>
                <a:sym typeface="Inter"/>
              </a:rPr>
              <a:t>ci</a:t>
            </a:r>
            <a:r>
              <a:rPr lang="en-US" sz="3687" strike="noStrike" u="none">
                <a:solidFill>
                  <a:srgbClr val="343434"/>
                </a:solidFill>
                <a:latin typeface="Inter"/>
                <a:ea typeface="Inter"/>
                <a:cs typeface="Inter"/>
                <a:sym typeface="Inter"/>
              </a:rPr>
              <a:t>era de la red de cl</a:t>
            </a:r>
            <a:r>
              <a:rPr lang="en-US" sz="3687" strike="noStrike" u="none">
                <a:solidFill>
                  <a:srgbClr val="343434"/>
                </a:solidFill>
                <a:latin typeface="Inter"/>
                <a:ea typeface="Inter"/>
                <a:cs typeface="Inter"/>
                <a:sym typeface="Inter"/>
              </a:rPr>
              <a:t>ín</a:t>
            </a:r>
            <a:r>
              <a:rPr lang="en-US" sz="3687" strike="noStrike" u="none">
                <a:solidFill>
                  <a:srgbClr val="343434"/>
                </a:solidFill>
                <a:latin typeface="Inter"/>
                <a:ea typeface="Inter"/>
                <a:cs typeface="Inter"/>
                <a:sym typeface="Inter"/>
              </a:rPr>
              <a:t>icas </a:t>
            </a:r>
            <a:r>
              <a:rPr lang="en-US" sz="3687" strike="noStrike" u="none">
                <a:solidFill>
                  <a:srgbClr val="343434"/>
                </a:solidFill>
                <a:latin typeface="Inter"/>
                <a:ea typeface="Inter"/>
                <a:cs typeface="Inter"/>
                <a:sym typeface="Inter"/>
              </a:rPr>
              <a:t>pr</a:t>
            </a:r>
            <a:r>
              <a:rPr lang="en-US" sz="3687" strike="noStrike" u="none">
                <a:solidFill>
                  <a:srgbClr val="343434"/>
                </a:solidFill>
                <a:latin typeface="Inter"/>
                <a:ea typeface="Inter"/>
                <a:cs typeface="Inter"/>
                <a:sym typeface="Inter"/>
              </a:rPr>
              <a:t>i</a:t>
            </a:r>
            <a:r>
              <a:rPr lang="en-US" sz="3687" strike="noStrike" u="none">
                <a:solidFill>
                  <a:srgbClr val="343434"/>
                </a:solidFill>
                <a:latin typeface="Inter"/>
                <a:ea typeface="Inter"/>
                <a:cs typeface="Inter"/>
                <a:sym typeface="Inter"/>
              </a:rPr>
              <a:t>v</a:t>
            </a:r>
            <a:r>
              <a:rPr lang="en-US" sz="3687" strike="noStrike" u="none">
                <a:solidFill>
                  <a:srgbClr val="343434"/>
                </a:solidFill>
                <a:latin typeface="Inter"/>
                <a:ea typeface="Inter"/>
                <a:cs typeface="Inter"/>
                <a:sym typeface="Inter"/>
              </a:rPr>
              <a:t>ad</a:t>
            </a:r>
            <a:r>
              <a:rPr lang="en-US" sz="3687" strike="noStrike" u="none">
                <a:solidFill>
                  <a:srgbClr val="343434"/>
                </a:solidFill>
                <a:latin typeface="Inter"/>
                <a:ea typeface="Inter"/>
                <a:cs typeface="Inter"/>
                <a:sym typeface="Inter"/>
              </a:rPr>
              <a:t>a</a:t>
            </a:r>
            <a:r>
              <a:rPr lang="en-US" sz="3687" strike="noStrike" u="none">
                <a:solidFill>
                  <a:srgbClr val="343434"/>
                </a:solidFill>
                <a:latin typeface="Inter"/>
                <a:ea typeface="Inter"/>
                <a:cs typeface="Inter"/>
                <a:sym typeface="Inter"/>
              </a:rPr>
              <a:t>s.</a:t>
            </a:r>
            <a:r>
              <a:rPr lang="en-US" sz="3687" strike="noStrike" u="none">
                <a:solidFill>
                  <a:srgbClr val="343434"/>
                </a:solidFill>
                <a:latin typeface="Inter"/>
                <a:ea typeface="Inter"/>
                <a:cs typeface="Inter"/>
                <a:sym typeface="Inter"/>
              </a:rPr>
              <a:t> </a:t>
            </a:r>
          </a:p>
        </p:txBody>
      </p:sp>
      <p:sp>
        <p:nvSpPr>
          <p:cNvPr name="TextBox 10" id="10"/>
          <p:cNvSpPr txBox="true"/>
          <p:nvPr/>
        </p:nvSpPr>
        <p:spPr>
          <a:xfrm rot="0">
            <a:off x="9743417" y="2993040"/>
            <a:ext cx="7420040" cy="6639860"/>
          </a:xfrm>
          <a:prstGeom prst="rect">
            <a:avLst/>
          </a:prstGeom>
        </p:spPr>
        <p:txBody>
          <a:bodyPr anchor="t" rtlCol="false" tIns="0" lIns="0" bIns="0" rIns="0">
            <a:spAutoFit/>
          </a:bodyPr>
          <a:lstStyle/>
          <a:p>
            <a:pPr algn="just" marL="0" indent="0" lvl="0">
              <a:lnSpc>
                <a:spcPts val="3119"/>
              </a:lnSpc>
              <a:spcBef>
                <a:spcPct val="0"/>
              </a:spcBef>
            </a:pPr>
            <a:r>
              <a:rPr lang="en-US" sz="2418">
                <a:solidFill>
                  <a:srgbClr val="343434"/>
                </a:solidFill>
                <a:latin typeface="Inter"/>
                <a:ea typeface="Inter"/>
                <a:cs typeface="Inter"/>
                <a:sym typeface="Inter"/>
              </a:rPr>
              <a:t>1.</a:t>
            </a:r>
            <a:r>
              <a:rPr lang="en-US" sz="2418" strike="noStrike" u="none">
                <a:solidFill>
                  <a:srgbClr val="343434"/>
                </a:solidFill>
                <a:latin typeface="Inter"/>
                <a:ea typeface="Inter"/>
                <a:cs typeface="Inter"/>
                <a:sym typeface="Inter"/>
              </a:rPr>
              <a:t> </a:t>
            </a:r>
            <a:r>
              <a:rPr lang="en-US" sz="2418" strike="noStrike" u="none">
                <a:solidFill>
                  <a:srgbClr val="343434"/>
                </a:solidFill>
                <a:latin typeface="Inter"/>
                <a:ea typeface="Inter"/>
                <a:cs typeface="Inter"/>
                <a:sym typeface="Inter"/>
              </a:rPr>
              <a:t>Ana</a:t>
            </a:r>
            <a:r>
              <a:rPr lang="en-US" sz="2418" strike="noStrike" u="none">
                <a:solidFill>
                  <a:srgbClr val="343434"/>
                </a:solidFill>
                <a:latin typeface="Inter"/>
                <a:ea typeface="Inter"/>
                <a:cs typeface="Inter"/>
                <a:sym typeface="Inter"/>
              </a:rPr>
              <a:t>l</a:t>
            </a:r>
            <a:r>
              <a:rPr lang="en-US" sz="2418" strike="noStrike" u="none">
                <a:solidFill>
                  <a:srgbClr val="343434"/>
                </a:solidFill>
                <a:latin typeface="Inter"/>
                <a:ea typeface="Inter"/>
                <a:cs typeface="Inter"/>
                <a:sym typeface="Inter"/>
              </a:rPr>
              <a:t>iza</a:t>
            </a:r>
            <a:r>
              <a:rPr lang="en-US" sz="2418" strike="noStrike" u="none">
                <a:solidFill>
                  <a:srgbClr val="343434"/>
                </a:solidFill>
                <a:latin typeface="Inter"/>
                <a:ea typeface="Inter"/>
                <a:cs typeface="Inter"/>
                <a:sym typeface="Inter"/>
              </a:rPr>
              <a:t>r </a:t>
            </a:r>
            <a:r>
              <a:rPr lang="en-US" sz="2418" strike="noStrike" u="none">
                <a:solidFill>
                  <a:srgbClr val="343434"/>
                </a:solidFill>
                <a:latin typeface="Inter"/>
                <a:ea typeface="Inter"/>
                <a:cs typeface="Inter"/>
                <a:sym typeface="Inter"/>
              </a:rPr>
              <a:t>l</a:t>
            </a:r>
            <a:r>
              <a:rPr lang="en-US" sz="2418" strike="noStrike" u="none">
                <a:solidFill>
                  <a:srgbClr val="343434"/>
                </a:solidFill>
                <a:latin typeface="Inter"/>
                <a:ea typeface="Inter"/>
                <a:cs typeface="Inter"/>
                <a:sym typeface="Inter"/>
              </a:rPr>
              <a:t>a</a:t>
            </a:r>
            <a:r>
              <a:rPr lang="en-US" sz="2418" strike="noStrike" u="none">
                <a:solidFill>
                  <a:srgbClr val="343434"/>
                </a:solidFill>
                <a:latin typeface="Inter"/>
                <a:ea typeface="Inter"/>
                <a:cs typeface="Inter"/>
                <a:sym typeface="Inter"/>
              </a:rPr>
              <a:t> </a:t>
            </a:r>
            <a:r>
              <a:rPr lang="en-US" sz="2418" strike="noStrike" u="none">
                <a:solidFill>
                  <a:srgbClr val="343434"/>
                </a:solidFill>
                <a:latin typeface="Inter"/>
                <a:ea typeface="Inter"/>
                <a:cs typeface="Inter"/>
                <a:sym typeface="Inter"/>
              </a:rPr>
              <a:t>e</a:t>
            </a:r>
            <a:r>
              <a:rPr lang="en-US" sz="2418" strike="noStrike" u="none">
                <a:solidFill>
                  <a:srgbClr val="343434"/>
                </a:solidFill>
                <a:latin typeface="Inter"/>
                <a:ea typeface="Inter"/>
                <a:cs typeface="Inter"/>
                <a:sym typeface="Inter"/>
              </a:rPr>
              <a:t>s</a:t>
            </a:r>
            <a:r>
              <a:rPr lang="en-US" sz="2418" strike="noStrike" u="none">
                <a:solidFill>
                  <a:srgbClr val="343434"/>
                </a:solidFill>
                <a:latin typeface="Inter"/>
                <a:ea typeface="Inter"/>
                <a:cs typeface="Inter"/>
                <a:sym typeface="Inter"/>
              </a:rPr>
              <a:t>t</a:t>
            </a:r>
            <a:r>
              <a:rPr lang="en-US" sz="2418" strike="noStrike" u="none">
                <a:solidFill>
                  <a:srgbClr val="343434"/>
                </a:solidFill>
                <a:latin typeface="Inter"/>
                <a:ea typeface="Inter"/>
                <a:cs typeface="Inter"/>
                <a:sym typeface="Inter"/>
              </a:rPr>
              <a:t>ru</a:t>
            </a:r>
            <a:r>
              <a:rPr lang="en-US" sz="2418" strike="noStrike" u="none">
                <a:solidFill>
                  <a:srgbClr val="343434"/>
                </a:solidFill>
                <a:latin typeface="Inter"/>
                <a:ea typeface="Inter"/>
                <a:cs typeface="Inter"/>
                <a:sym typeface="Inter"/>
              </a:rPr>
              <a:t>ctur</a:t>
            </a:r>
            <a:r>
              <a:rPr lang="en-US" sz="2418" strike="noStrike" u="none">
                <a:solidFill>
                  <a:srgbClr val="343434"/>
                </a:solidFill>
                <a:latin typeface="Inter"/>
                <a:ea typeface="Inter"/>
                <a:cs typeface="Inter"/>
                <a:sym typeface="Inter"/>
              </a:rPr>
              <a:t>a</a:t>
            </a:r>
            <a:r>
              <a:rPr lang="en-US" sz="2418" strike="noStrike" u="none">
                <a:solidFill>
                  <a:srgbClr val="343434"/>
                </a:solidFill>
                <a:latin typeface="Inter"/>
                <a:ea typeface="Inter"/>
                <a:cs typeface="Inter"/>
                <a:sym typeface="Inter"/>
              </a:rPr>
              <a:t> </a:t>
            </a:r>
            <a:r>
              <a:rPr lang="en-US" sz="2418" strike="noStrike" u="none">
                <a:solidFill>
                  <a:srgbClr val="343434"/>
                </a:solidFill>
                <a:latin typeface="Inter"/>
                <a:ea typeface="Inter"/>
                <a:cs typeface="Inter"/>
                <a:sym typeface="Inter"/>
              </a:rPr>
              <a:t>OLTP b</a:t>
            </a:r>
            <a:r>
              <a:rPr lang="en-US" sz="2418" strike="noStrike" u="none">
                <a:solidFill>
                  <a:srgbClr val="343434"/>
                </a:solidFill>
                <a:latin typeface="Inter"/>
                <a:ea typeface="Inter"/>
                <a:cs typeface="Inter"/>
                <a:sym typeface="Inter"/>
              </a:rPr>
              <a:t>as</a:t>
            </a:r>
            <a:r>
              <a:rPr lang="en-US" sz="2418" strike="noStrike" u="none">
                <a:solidFill>
                  <a:srgbClr val="343434"/>
                </a:solidFill>
                <a:latin typeface="Inter"/>
                <a:ea typeface="Inter"/>
                <a:cs typeface="Inter"/>
                <a:sym typeface="Inter"/>
              </a:rPr>
              <a:t>e</a:t>
            </a:r>
            <a:r>
              <a:rPr lang="en-US" sz="2418" strike="noStrike" u="none">
                <a:solidFill>
                  <a:srgbClr val="343434"/>
                </a:solidFill>
                <a:latin typeface="Inter"/>
                <a:ea typeface="Inter"/>
                <a:cs typeface="Inter"/>
                <a:sym typeface="Inter"/>
              </a:rPr>
              <a:t> </a:t>
            </a:r>
            <a:r>
              <a:rPr lang="en-US" sz="2418" strike="noStrike" u="none">
                <a:solidFill>
                  <a:srgbClr val="343434"/>
                </a:solidFill>
                <a:latin typeface="Inter"/>
                <a:ea typeface="Inter"/>
                <a:cs typeface="Inter"/>
                <a:sym typeface="Inter"/>
              </a:rPr>
              <a:t>d</a:t>
            </a:r>
            <a:r>
              <a:rPr lang="en-US" sz="2418" strike="noStrike" u="none">
                <a:solidFill>
                  <a:srgbClr val="343434"/>
                </a:solidFill>
                <a:latin typeface="Inter"/>
                <a:ea typeface="Inter"/>
                <a:cs typeface="Inter"/>
                <a:sym typeface="Inter"/>
              </a:rPr>
              <a:t>el</a:t>
            </a:r>
            <a:r>
              <a:rPr lang="en-US" sz="2418" strike="noStrike" u="none">
                <a:solidFill>
                  <a:srgbClr val="343434"/>
                </a:solidFill>
                <a:latin typeface="Inter"/>
                <a:ea typeface="Inter"/>
                <a:cs typeface="Inter"/>
                <a:sym typeface="Inter"/>
              </a:rPr>
              <a:t> s</a:t>
            </a:r>
            <a:r>
              <a:rPr lang="en-US" sz="2418" strike="noStrike" u="none">
                <a:solidFill>
                  <a:srgbClr val="343434"/>
                </a:solidFill>
                <a:latin typeface="Inter"/>
                <a:ea typeface="Inter"/>
                <a:cs typeface="Inter"/>
                <a:sym typeface="Inter"/>
              </a:rPr>
              <a:t>i</a:t>
            </a:r>
            <a:r>
              <a:rPr lang="en-US" sz="2418" strike="noStrike" u="none">
                <a:solidFill>
                  <a:srgbClr val="343434"/>
                </a:solidFill>
                <a:latin typeface="Inter"/>
                <a:ea typeface="Inter"/>
                <a:cs typeface="Inter"/>
                <a:sym typeface="Inter"/>
              </a:rPr>
              <a:t>s</a:t>
            </a:r>
            <a:r>
              <a:rPr lang="en-US" sz="2418" strike="noStrike" u="none">
                <a:solidFill>
                  <a:srgbClr val="343434"/>
                </a:solidFill>
                <a:latin typeface="Inter"/>
                <a:ea typeface="Inter"/>
                <a:cs typeface="Inter"/>
                <a:sym typeface="Inter"/>
              </a:rPr>
              <a:t>te</a:t>
            </a:r>
            <a:r>
              <a:rPr lang="en-US" sz="2418" strike="noStrike" u="none">
                <a:solidFill>
                  <a:srgbClr val="343434"/>
                </a:solidFill>
                <a:latin typeface="Inter"/>
                <a:ea typeface="Inter"/>
                <a:cs typeface="Inter"/>
                <a:sym typeface="Inter"/>
              </a:rPr>
              <a:t>ma</a:t>
            </a:r>
            <a:r>
              <a:rPr lang="en-US" sz="2418" strike="noStrike" u="none">
                <a:solidFill>
                  <a:srgbClr val="343434"/>
                </a:solidFill>
                <a:latin typeface="Inter"/>
                <a:ea typeface="Inter"/>
                <a:cs typeface="Inter"/>
                <a:sym typeface="Inter"/>
              </a:rPr>
              <a:t> </a:t>
            </a:r>
            <a:r>
              <a:rPr lang="en-US" sz="2418" strike="noStrike" u="none">
                <a:solidFill>
                  <a:srgbClr val="343434"/>
                </a:solidFill>
                <a:latin typeface="Inter"/>
                <a:ea typeface="Inter"/>
                <a:cs typeface="Inter"/>
                <a:sym typeface="Inter"/>
              </a:rPr>
              <a:t>clínic</a:t>
            </a:r>
            <a:r>
              <a:rPr lang="en-US" sz="2418" strike="noStrike" u="none">
                <a:solidFill>
                  <a:srgbClr val="343434"/>
                </a:solidFill>
                <a:latin typeface="Inter"/>
                <a:ea typeface="Inter"/>
                <a:cs typeface="Inter"/>
                <a:sym typeface="Inter"/>
              </a:rPr>
              <a:t>o </a:t>
            </a:r>
            <a:r>
              <a:rPr lang="en-US" sz="2418" strike="noStrike" u="none">
                <a:solidFill>
                  <a:srgbClr val="343434"/>
                </a:solidFill>
                <a:latin typeface="Inter"/>
                <a:ea typeface="Inter"/>
                <a:cs typeface="Inter"/>
                <a:sym typeface="Inter"/>
              </a:rPr>
              <a:t>y </a:t>
            </a:r>
            <a:r>
              <a:rPr lang="en-US" sz="2418" strike="noStrike" u="none">
                <a:solidFill>
                  <a:srgbClr val="343434"/>
                </a:solidFill>
                <a:latin typeface="Inter"/>
                <a:ea typeface="Inter"/>
                <a:cs typeface="Inter"/>
                <a:sym typeface="Inter"/>
              </a:rPr>
              <a:t>s</a:t>
            </a:r>
            <a:r>
              <a:rPr lang="en-US" sz="2418" strike="noStrike" u="none">
                <a:solidFill>
                  <a:srgbClr val="343434"/>
                </a:solidFill>
                <a:latin typeface="Inter"/>
                <a:ea typeface="Inter"/>
                <a:cs typeface="Inter"/>
                <a:sym typeface="Inter"/>
              </a:rPr>
              <a:t>u </a:t>
            </a:r>
            <a:r>
              <a:rPr lang="en-US" sz="2418" strike="noStrike" u="none">
                <a:solidFill>
                  <a:srgbClr val="343434"/>
                </a:solidFill>
                <a:latin typeface="Inter"/>
                <a:ea typeface="Inter"/>
                <a:cs typeface="Inter"/>
                <a:sym typeface="Inter"/>
              </a:rPr>
              <a:t>mode</a:t>
            </a:r>
            <a:r>
              <a:rPr lang="en-US" sz="2418" strike="noStrike" u="none">
                <a:solidFill>
                  <a:srgbClr val="343434"/>
                </a:solidFill>
                <a:latin typeface="Inter"/>
                <a:ea typeface="Inter"/>
                <a:cs typeface="Inter"/>
                <a:sym typeface="Inter"/>
              </a:rPr>
              <a:t>l</a:t>
            </a:r>
            <a:r>
              <a:rPr lang="en-US" sz="2418" strike="noStrike" u="none">
                <a:solidFill>
                  <a:srgbClr val="343434"/>
                </a:solidFill>
                <a:latin typeface="Inter"/>
                <a:ea typeface="Inter"/>
                <a:cs typeface="Inter"/>
                <a:sym typeface="Inter"/>
              </a:rPr>
              <a:t>o d</a:t>
            </a:r>
            <a:r>
              <a:rPr lang="en-US" sz="2418" strike="noStrike" u="none">
                <a:solidFill>
                  <a:srgbClr val="343434"/>
                </a:solidFill>
                <a:latin typeface="Inter"/>
                <a:ea typeface="Inter"/>
                <a:cs typeface="Inter"/>
                <a:sym typeface="Inter"/>
              </a:rPr>
              <a:t>e </a:t>
            </a:r>
            <a:r>
              <a:rPr lang="en-US" sz="2418" strike="noStrike" u="none">
                <a:solidFill>
                  <a:srgbClr val="343434"/>
                </a:solidFill>
                <a:latin typeface="Inter"/>
                <a:ea typeface="Inter"/>
                <a:cs typeface="Inter"/>
                <a:sym typeface="Inter"/>
              </a:rPr>
              <a:t>d</a:t>
            </a:r>
            <a:r>
              <a:rPr lang="en-US" sz="2418" strike="noStrike" u="none">
                <a:solidFill>
                  <a:srgbClr val="343434"/>
                </a:solidFill>
                <a:latin typeface="Inter"/>
                <a:ea typeface="Inter"/>
                <a:cs typeface="Inter"/>
                <a:sym typeface="Inter"/>
              </a:rPr>
              <a:t>a</a:t>
            </a:r>
            <a:r>
              <a:rPr lang="en-US" sz="2418" strike="noStrike" u="none">
                <a:solidFill>
                  <a:srgbClr val="343434"/>
                </a:solidFill>
                <a:latin typeface="Inter"/>
                <a:ea typeface="Inter"/>
                <a:cs typeface="Inter"/>
                <a:sym typeface="Inter"/>
              </a:rPr>
              <a:t>t</a:t>
            </a:r>
            <a:r>
              <a:rPr lang="en-US" sz="2418" strike="noStrike" u="none">
                <a:solidFill>
                  <a:srgbClr val="343434"/>
                </a:solidFill>
                <a:latin typeface="Inter"/>
                <a:ea typeface="Inter"/>
                <a:cs typeface="Inter"/>
                <a:sym typeface="Inter"/>
              </a:rPr>
              <a:t>os.</a:t>
            </a:r>
          </a:p>
          <a:p>
            <a:pPr algn="just" marL="0" indent="0" lvl="0">
              <a:lnSpc>
                <a:spcPts val="3119"/>
              </a:lnSpc>
              <a:spcBef>
                <a:spcPct val="0"/>
              </a:spcBef>
            </a:pPr>
            <a:r>
              <a:rPr lang="en-US" sz="2418" strike="noStrike" u="none">
                <a:solidFill>
                  <a:srgbClr val="343434"/>
                </a:solidFill>
                <a:latin typeface="Inter"/>
                <a:ea typeface="Inter"/>
                <a:cs typeface="Inter"/>
                <a:sym typeface="Inter"/>
              </a:rPr>
              <a:t> </a:t>
            </a:r>
          </a:p>
          <a:p>
            <a:pPr algn="just" marL="0" indent="0" lvl="0">
              <a:lnSpc>
                <a:spcPts val="3119"/>
              </a:lnSpc>
              <a:spcBef>
                <a:spcPct val="0"/>
              </a:spcBef>
            </a:pPr>
            <a:r>
              <a:rPr lang="en-US" sz="2418" strike="noStrike" u="none">
                <a:solidFill>
                  <a:srgbClr val="343434"/>
                </a:solidFill>
                <a:latin typeface="Inter"/>
                <a:ea typeface="Inter"/>
                <a:cs typeface="Inter"/>
                <a:sym typeface="Inter"/>
              </a:rPr>
              <a:t>2. Diseñar un modelo dimensional bajo un esquema estrella que facilite el análisis multidimensional. </a:t>
            </a:r>
          </a:p>
          <a:p>
            <a:pPr algn="just" marL="0" indent="0" lvl="0">
              <a:lnSpc>
                <a:spcPts val="3119"/>
              </a:lnSpc>
              <a:spcBef>
                <a:spcPct val="0"/>
              </a:spcBef>
            </a:pPr>
          </a:p>
          <a:p>
            <a:pPr algn="just" marL="0" indent="0" lvl="0">
              <a:lnSpc>
                <a:spcPts val="3119"/>
              </a:lnSpc>
              <a:spcBef>
                <a:spcPct val="0"/>
              </a:spcBef>
            </a:pPr>
            <a:r>
              <a:rPr lang="en-US" sz="2418" strike="noStrike" u="none">
                <a:solidFill>
                  <a:srgbClr val="343434"/>
                </a:solidFill>
                <a:latin typeface="Inter"/>
                <a:ea typeface="Inter"/>
                <a:cs typeface="Inter"/>
                <a:sym typeface="Inter"/>
              </a:rPr>
              <a:t>3. Desarrollar un proceso ETL para integrar, validar y transformar los datos hacia un Data Mart. </a:t>
            </a:r>
          </a:p>
          <a:p>
            <a:pPr algn="just" marL="0" indent="0" lvl="0">
              <a:lnSpc>
                <a:spcPts val="3119"/>
              </a:lnSpc>
              <a:spcBef>
                <a:spcPct val="0"/>
              </a:spcBef>
            </a:pPr>
          </a:p>
          <a:p>
            <a:pPr algn="just" marL="0" indent="0" lvl="0">
              <a:lnSpc>
                <a:spcPts val="3119"/>
              </a:lnSpc>
              <a:spcBef>
                <a:spcPct val="0"/>
              </a:spcBef>
            </a:pPr>
            <a:r>
              <a:rPr lang="en-US" sz="2418" strike="noStrike" u="none">
                <a:solidFill>
                  <a:srgbClr val="343434"/>
                </a:solidFill>
                <a:latin typeface="Inter"/>
                <a:ea typeface="Inter"/>
                <a:cs typeface="Inter"/>
                <a:sym typeface="Inter"/>
              </a:rPr>
              <a:t>4. Generar boletas clínicas electrónicas en formato JSON conforme a las normas de trazabilidad clínica. </a:t>
            </a:r>
          </a:p>
          <a:p>
            <a:pPr algn="just" marL="0" indent="0" lvl="0">
              <a:lnSpc>
                <a:spcPts val="3119"/>
              </a:lnSpc>
              <a:spcBef>
                <a:spcPct val="0"/>
              </a:spcBef>
            </a:pPr>
          </a:p>
          <a:p>
            <a:pPr algn="just" marL="0" indent="0" lvl="0">
              <a:lnSpc>
                <a:spcPts val="3119"/>
              </a:lnSpc>
              <a:spcBef>
                <a:spcPct val="0"/>
              </a:spcBef>
            </a:pPr>
            <a:r>
              <a:rPr lang="en-US" sz="2418" strike="noStrike" u="none">
                <a:solidFill>
                  <a:srgbClr val="343434"/>
                </a:solidFill>
                <a:latin typeface="Inter"/>
                <a:ea typeface="Inter"/>
                <a:cs typeface="Inter"/>
                <a:sym typeface="Inter"/>
              </a:rPr>
              <a:t>5. Construir un dashboard analítico que permita visualizar indicadores de gestión médica y eficiencia operativa.</a:t>
            </a:r>
          </a:p>
        </p:txBody>
      </p:sp>
      <p:sp>
        <p:nvSpPr>
          <p:cNvPr name="TextBox 11" id="11"/>
          <p:cNvSpPr txBox="true"/>
          <p:nvPr/>
        </p:nvSpPr>
        <p:spPr>
          <a:xfrm rot="0">
            <a:off x="1581737" y="2134737"/>
            <a:ext cx="6429478" cy="769620"/>
          </a:xfrm>
          <a:prstGeom prst="rect">
            <a:avLst/>
          </a:prstGeom>
        </p:spPr>
        <p:txBody>
          <a:bodyPr anchor="t" rtlCol="false" tIns="0" lIns="0" bIns="0" rIns="0">
            <a:spAutoFit/>
          </a:bodyPr>
          <a:lstStyle/>
          <a:p>
            <a:pPr algn="ctr">
              <a:lnSpc>
                <a:spcPts val="5640"/>
              </a:lnSpc>
            </a:pPr>
            <a:r>
              <a:rPr lang="en-US" b="true" sz="6000" spc="-89">
                <a:solidFill>
                  <a:srgbClr val="4B4B4B"/>
                </a:solidFill>
                <a:latin typeface="Adirek Sans Medium"/>
                <a:ea typeface="Adirek Sans Medium"/>
                <a:cs typeface="Adirek Sans Medium"/>
                <a:sym typeface="Adirek Sans Medium"/>
              </a:rPr>
              <a:t>GENERAL</a:t>
            </a:r>
          </a:p>
        </p:txBody>
      </p:sp>
      <p:sp>
        <p:nvSpPr>
          <p:cNvPr name="TextBox 12" id="12"/>
          <p:cNvSpPr txBox="true"/>
          <p:nvPr/>
        </p:nvSpPr>
        <p:spPr>
          <a:xfrm rot="0">
            <a:off x="10334541" y="2134737"/>
            <a:ext cx="6429478" cy="769620"/>
          </a:xfrm>
          <a:prstGeom prst="rect">
            <a:avLst/>
          </a:prstGeom>
        </p:spPr>
        <p:txBody>
          <a:bodyPr anchor="t" rtlCol="false" tIns="0" lIns="0" bIns="0" rIns="0">
            <a:spAutoFit/>
          </a:bodyPr>
          <a:lstStyle/>
          <a:p>
            <a:pPr algn="ctr">
              <a:lnSpc>
                <a:spcPts val="5640"/>
              </a:lnSpc>
            </a:pPr>
            <a:r>
              <a:rPr lang="en-US" b="true" sz="6000" spc="-89">
                <a:solidFill>
                  <a:srgbClr val="4B4B4B"/>
                </a:solidFill>
                <a:latin typeface="Adirek Sans Medium"/>
                <a:ea typeface="Adirek Sans Medium"/>
                <a:cs typeface="Adirek Sans Medium"/>
                <a:sym typeface="Adirek Sans Medium"/>
              </a:rPr>
              <a:t>ESPECIFICOS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661798" y="739317"/>
            <a:ext cx="9989077" cy="8640552"/>
          </a:xfrm>
          <a:custGeom>
            <a:avLst/>
            <a:gdLst/>
            <a:ahLst/>
            <a:cxnLst/>
            <a:rect r="r" b="b" t="t" l="l"/>
            <a:pathLst>
              <a:path h="8640552" w="9989077">
                <a:moveTo>
                  <a:pt x="0" y="0"/>
                </a:moveTo>
                <a:lnTo>
                  <a:pt x="9989078" y="0"/>
                </a:lnTo>
                <a:lnTo>
                  <a:pt x="9989078" y="8640552"/>
                </a:lnTo>
                <a:lnTo>
                  <a:pt x="0" y="8640552"/>
                </a:lnTo>
                <a:lnTo>
                  <a:pt x="0" y="0"/>
                </a:lnTo>
                <a:close/>
              </a:path>
            </a:pathLst>
          </a:custGeom>
          <a:blipFill>
            <a:blip r:embed="rId2"/>
            <a:stretch>
              <a:fillRect l="0" t="0" r="0" b="0"/>
            </a:stretch>
          </a:blipFill>
        </p:spPr>
      </p:sp>
      <p:sp>
        <p:nvSpPr>
          <p:cNvPr name="TextBox 3" id="3"/>
          <p:cNvSpPr txBox="true"/>
          <p:nvPr/>
        </p:nvSpPr>
        <p:spPr>
          <a:xfrm rot="0">
            <a:off x="809613" y="2589222"/>
            <a:ext cx="6377909" cy="1648342"/>
          </a:xfrm>
          <a:prstGeom prst="rect">
            <a:avLst/>
          </a:prstGeom>
        </p:spPr>
        <p:txBody>
          <a:bodyPr anchor="t" rtlCol="false" tIns="0" lIns="0" bIns="0" rIns="0">
            <a:spAutoFit/>
          </a:bodyPr>
          <a:lstStyle/>
          <a:p>
            <a:pPr algn="ctr">
              <a:lnSpc>
                <a:spcPts val="6386"/>
              </a:lnSpc>
            </a:pPr>
            <a:r>
              <a:rPr lang="en-US" b="true" sz="6200" spc="-93">
                <a:solidFill>
                  <a:srgbClr val="4B4B4B"/>
                </a:solidFill>
                <a:latin typeface="Adirek Sans Medium"/>
                <a:ea typeface="Adirek Sans Medium"/>
                <a:cs typeface="Adirek Sans Medium"/>
                <a:sym typeface="Adirek Sans Medium"/>
              </a:rPr>
              <a:t>ANALISIS DEL MODELO OLTP</a:t>
            </a:r>
          </a:p>
        </p:txBody>
      </p:sp>
      <p:sp>
        <p:nvSpPr>
          <p:cNvPr name="TextBox 4" id="4"/>
          <p:cNvSpPr txBox="true"/>
          <p:nvPr/>
        </p:nvSpPr>
        <p:spPr>
          <a:xfrm rot="0">
            <a:off x="1028700" y="5040543"/>
            <a:ext cx="6377909" cy="2910840"/>
          </a:xfrm>
          <a:prstGeom prst="rect">
            <a:avLst/>
          </a:prstGeom>
        </p:spPr>
        <p:txBody>
          <a:bodyPr anchor="t" rtlCol="false" tIns="0" lIns="0" bIns="0" rIns="0">
            <a:spAutoFit/>
          </a:bodyPr>
          <a:lstStyle/>
          <a:p>
            <a:pPr algn="l" marL="0" indent="0" lvl="0">
              <a:lnSpc>
                <a:spcPts val="2579"/>
              </a:lnSpc>
            </a:pPr>
            <a:r>
              <a:rPr lang="en-US" sz="1999">
                <a:solidFill>
                  <a:srgbClr val="343434"/>
                </a:solidFill>
                <a:latin typeface="Inter"/>
                <a:ea typeface="Inter"/>
                <a:cs typeface="Inter"/>
                <a:sym typeface="Inter"/>
              </a:rPr>
              <a:t>El</a:t>
            </a:r>
            <a:r>
              <a:rPr lang="en-US" sz="1999" u="none">
                <a:solidFill>
                  <a:srgbClr val="343434"/>
                </a:solidFill>
                <a:latin typeface="Inter"/>
                <a:ea typeface="Inter"/>
                <a:cs typeface="Inter"/>
                <a:sym typeface="Inter"/>
              </a:rPr>
              <a:t> modelo fuente se compone de tablas transaccionales que registran los eventos clínicos: atenciones, pacientes, médicos, servicios, unidades médicas y seguros. Estas estructuras permiten registrar cada interacción con detalle, incluyendo costos, coberturas, métodos de pago y deducibles. No obstante, su naturaleza normalizada dificulta la obtención de información consolidada de manera eficiente.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406563" y="1028700"/>
            <a:ext cx="8343864" cy="8312575"/>
          </a:xfrm>
          <a:custGeom>
            <a:avLst/>
            <a:gdLst/>
            <a:ahLst/>
            <a:cxnLst/>
            <a:rect r="r" b="b" t="t" l="l"/>
            <a:pathLst>
              <a:path h="8312575" w="8343864">
                <a:moveTo>
                  <a:pt x="0" y="0"/>
                </a:moveTo>
                <a:lnTo>
                  <a:pt x="8343864" y="0"/>
                </a:lnTo>
                <a:lnTo>
                  <a:pt x="8343864" y="8312575"/>
                </a:lnTo>
                <a:lnTo>
                  <a:pt x="0" y="8312575"/>
                </a:lnTo>
                <a:lnTo>
                  <a:pt x="0" y="0"/>
                </a:lnTo>
                <a:close/>
              </a:path>
            </a:pathLst>
          </a:custGeom>
          <a:blipFill>
            <a:blip r:embed="rId2"/>
            <a:stretch>
              <a:fillRect l="0" t="0" r="0" b="0"/>
            </a:stretch>
          </a:blipFill>
        </p:spPr>
      </p:sp>
      <p:sp>
        <p:nvSpPr>
          <p:cNvPr name="TextBox 3" id="3"/>
          <p:cNvSpPr txBox="true"/>
          <p:nvPr/>
        </p:nvSpPr>
        <p:spPr>
          <a:xfrm rot="0">
            <a:off x="1195257" y="1133475"/>
            <a:ext cx="6377909" cy="1648342"/>
          </a:xfrm>
          <a:prstGeom prst="rect">
            <a:avLst/>
          </a:prstGeom>
        </p:spPr>
        <p:txBody>
          <a:bodyPr anchor="t" rtlCol="false" tIns="0" lIns="0" bIns="0" rIns="0">
            <a:spAutoFit/>
          </a:bodyPr>
          <a:lstStyle/>
          <a:p>
            <a:pPr algn="ctr">
              <a:lnSpc>
                <a:spcPts val="6386"/>
              </a:lnSpc>
            </a:pPr>
            <a:r>
              <a:rPr lang="en-US" b="true" sz="6200" spc="-93">
                <a:solidFill>
                  <a:srgbClr val="4B4B4B"/>
                </a:solidFill>
                <a:latin typeface="Adirek Sans Medium"/>
                <a:ea typeface="Adirek Sans Medium"/>
                <a:cs typeface="Adirek Sans Medium"/>
                <a:sym typeface="Adirek Sans Medium"/>
              </a:rPr>
              <a:t>ANALISIS DEL MODELO OLAP</a:t>
            </a:r>
          </a:p>
        </p:txBody>
      </p:sp>
      <p:sp>
        <p:nvSpPr>
          <p:cNvPr name="TextBox 4" id="4"/>
          <p:cNvSpPr txBox="true"/>
          <p:nvPr/>
        </p:nvSpPr>
        <p:spPr>
          <a:xfrm rot="0">
            <a:off x="907729" y="3122770"/>
            <a:ext cx="7787193" cy="5931799"/>
          </a:xfrm>
          <a:prstGeom prst="rect">
            <a:avLst/>
          </a:prstGeom>
        </p:spPr>
        <p:txBody>
          <a:bodyPr anchor="t" rtlCol="false" tIns="0" lIns="0" bIns="0" rIns="0">
            <a:spAutoFit/>
          </a:bodyPr>
          <a:lstStyle/>
          <a:p>
            <a:pPr algn="l" marL="0" indent="0" lvl="0">
              <a:lnSpc>
                <a:spcPts val="3150"/>
              </a:lnSpc>
            </a:pPr>
            <a:r>
              <a:rPr lang="en-US" sz="2441">
                <a:solidFill>
                  <a:srgbClr val="343434"/>
                </a:solidFill>
                <a:latin typeface="Inter"/>
                <a:ea typeface="Inter"/>
                <a:cs typeface="Inter"/>
                <a:sym typeface="Inter"/>
              </a:rPr>
              <a:t>A</a:t>
            </a:r>
            <a:r>
              <a:rPr lang="en-US" sz="2441" u="none">
                <a:solidFill>
                  <a:srgbClr val="343434"/>
                </a:solidFill>
                <a:latin typeface="Inter"/>
                <a:ea typeface="Inter"/>
                <a:cs typeface="Inter"/>
                <a:sym typeface="Inter"/>
              </a:rPr>
              <a:t>dopta un esquema estrella, donde la tabla de hechos fact_atenciones concentra las métricas cuantitativas, y las dimensiones pacientes, médico, servicio, unidad, tiempo y seguro aportan los descriptores cualitativos que permiten analizar los datos desde múltiples perspectivas. El modelo analítico incorpora además la tabla de hechos.</a:t>
            </a:r>
          </a:p>
          <a:p>
            <a:pPr algn="l" marL="0" indent="0" lvl="0">
              <a:lnSpc>
                <a:spcPts val="3150"/>
              </a:lnSpc>
            </a:pPr>
          </a:p>
          <a:p>
            <a:pPr algn="l" marL="0" indent="0" lvl="0">
              <a:lnSpc>
                <a:spcPts val="3150"/>
              </a:lnSpc>
            </a:pPr>
            <a:r>
              <a:rPr lang="en-US" sz="2441" u="none">
                <a:solidFill>
                  <a:srgbClr val="343434"/>
                </a:solidFill>
                <a:latin typeface="Inter"/>
                <a:ea typeface="Inter"/>
                <a:cs typeface="Inter"/>
                <a:sym typeface="Inter"/>
              </a:rPr>
              <a:t> fact_insumos, diseñada para registrar y analizar el uso de materiales e insumos médicos asociados a cada atención clínica. Esta tabla concentra las métricas cuantitativas relacionadas con los consumos operativos, los costos unitarios y los costos totales de los insumos utilizados durante los procedimientos médicos.</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6F9FA"/>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8229600"/>
            <a:chOff x="0" y="0"/>
            <a:chExt cx="4274726" cy="2167467"/>
          </a:xfrm>
        </p:grpSpPr>
        <p:sp>
          <p:nvSpPr>
            <p:cNvPr name="Freeform 3" id="3"/>
            <p:cNvSpPr/>
            <p:nvPr/>
          </p:nvSpPr>
          <p:spPr>
            <a:xfrm flipH="false" flipV="false" rot="0">
              <a:off x="0" y="0"/>
              <a:ext cx="4274726" cy="2167467"/>
            </a:xfrm>
            <a:custGeom>
              <a:avLst/>
              <a:gdLst/>
              <a:ahLst/>
              <a:cxnLst/>
              <a:rect r="r" b="b" t="t" l="l"/>
              <a:pathLst>
                <a:path h="2167467" w="4274726">
                  <a:moveTo>
                    <a:pt x="24327" y="0"/>
                  </a:moveTo>
                  <a:lnTo>
                    <a:pt x="4250399" y="0"/>
                  </a:lnTo>
                  <a:cubicBezTo>
                    <a:pt x="4263834" y="0"/>
                    <a:pt x="4274726" y="10891"/>
                    <a:pt x="4274726" y="24327"/>
                  </a:cubicBezTo>
                  <a:lnTo>
                    <a:pt x="4274726" y="2143140"/>
                  </a:lnTo>
                  <a:cubicBezTo>
                    <a:pt x="4274726" y="2156575"/>
                    <a:pt x="4263834" y="2167467"/>
                    <a:pt x="4250399" y="2167467"/>
                  </a:cubicBezTo>
                  <a:lnTo>
                    <a:pt x="24327" y="2167467"/>
                  </a:lnTo>
                  <a:cubicBezTo>
                    <a:pt x="10891" y="2167467"/>
                    <a:pt x="0" y="2156575"/>
                    <a:pt x="0" y="2143140"/>
                  </a:cubicBezTo>
                  <a:lnTo>
                    <a:pt x="0" y="24327"/>
                  </a:lnTo>
                  <a:cubicBezTo>
                    <a:pt x="0" y="10891"/>
                    <a:pt x="10891" y="0"/>
                    <a:pt x="24327" y="0"/>
                  </a:cubicBezTo>
                  <a:close/>
                </a:path>
              </a:pathLst>
            </a:custGeom>
            <a:solidFill>
              <a:srgbClr val="C3DCEF"/>
            </a:solidFill>
          </p:spPr>
        </p:sp>
        <p:sp>
          <p:nvSpPr>
            <p:cNvPr name="TextBox 4" id="4"/>
            <p:cNvSpPr txBox="true"/>
            <p:nvPr/>
          </p:nvSpPr>
          <p:spPr>
            <a:xfrm>
              <a:off x="0" y="-38100"/>
              <a:ext cx="4274726" cy="2205567"/>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4404340" y="2229733"/>
            <a:ext cx="9479320" cy="891680"/>
          </a:xfrm>
          <a:prstGeom prst="rect">
            <a:avLst/>
          </a:prstGeom>
        </p:spPr>
        <p:txBody>
          <a:bodyPr anchor="t" rtlCol="false" tIns="0" lIns="0" bIns="0" rIns="0">
            <a:spAutoFit/>
          </a:bodyPr>
          <a:lstStyle/>
          <a:p>
            <a:pPr algn="ctr">
              <a:lnSpc>
                <a:spcPts val="6674"/>
              </a:lnSpc>
            </a:pPr>
            <a:r>
              <a:rPr lang="en-US" b="true" sz="7100" spc="-106">
                <a:solidFill>
                  <a:srgbClr val="4B4B4B"/>
                </a:solidFill>
                <a:latin typeface="Adirek Sans Medium"/>
                <a:ea typeface="Adirek Sans Medium"/>
                <a:cs typeface="Adirek Sans Medium"/>
                <a:sym typeface="Adirek Sans Medium"/>
              </a:rPr>
              <a:t>DEFINICION DE KPIS</a:t>
            </a:r>
          </a:p>
        </p:txBody>
      </p:sp>
      <p:sp>
        <p:nvSpPr>
          <p:cNvPr name="TextBox 6" id="6"/>
          <p:cNvSpPr txBox="true"/>
          <p:nvPr/>
        </p:nvSpPr>
        <p:spPr>
          <a:xfrm rot="0">
            <a:off x="2078437" y="3497942"/>
            <a:ext cx="14131127" cy="3262540"/>
          </a:xfrm>
          <a:prstGeom prst="rect">
            <a:avLst/>
          </a:prstGeom>
        </p:spPr>
        <p:txBody>
          <a:bodyPr anchor="t" rtlCol="false" tIns="0" lIns="0" bIns="0" rIns="0">
            <a:spAutoFit/>
          </a:bodyPr>
          <a:lstStyle/>
          <a:p>
            <a:pPr algn="just" marL="0" indent="0" lvl="0">
              <a:lnSpc>
                <a:spcPts val="3736"/>
              </a:lnSpc>
            </a:pPr>
            <a:r>
              <a:rPr lang="en-US" sz="2896" u="none">
                <a:solidFill>
                  <a:srgbClr val="343434"/>
                </a:solidFill>
                <a:latin typeface="Inter"/>
                <a:ea typeface="Inter"/>
                <a:cs typeface="Inter"/>
                <a:sym typeface="Inter"/>
              </a:rPr>
              <a:t>Los indicadores clave de desempeño (KPIs) definidos fueron los siguientes: </a:t>
            </a:r>
          </a:p>
          <a:p>
            <a:pPr algn="just" marL="0" indent="0" lvl="0">
              <a:lnSpc>
                <a:spcPts val="3736"/>
              </a:lnSpc>
            </a:pPr>
          </a:p>
          <a:p>
            <a:pPr algn="just" marL="0" indent="0" lvl="0">
              <a:lnSpc>
                <a:spcPts val="3736"/>
              </a:lnSpc>
            </a:pPr>
            <a:r>
              <a:rPr lang="en-US" sz="2896" u="none">
                <a:solidFill>
                  <a:srgbClr val="343434"/>
                </a:solidFill>
                <a:latin typeface="Inter"/>
                <a:ea typeface="Inter"/>
                <a:cs typeface="Inter"/>
                <a:sym typeface="Inter"/>
              </a:rPr>
              <a:t>1. Frecuencia de visitas por paciente. </a:t>
            </a:r>
          </a:p>
          <a:p>
            <a:pPr algn="just" marL="0" indent="0" lvl="0">
              <a:lnSpc>
                <a:spcPts val="3736"/>
              </a:lnSpc>
            </a:pPr>
            <a:r>
              <a:rPr lang="en-US" sz="2896" u="none">
                <a:solidFill>
                  <a:srgbClr val="343434"/>
                </a:solidFill>
                <a:latin typeface="Inter"/>
                <a:ea typeface="Inter"/>
                <a:cs typeface="Inter"/>
                <a:sym typeface="Inter"/>
              </a:rPr>
              <a:t>2. Costo promedio por unidad médica. </a:t>
            </a:r>
          </a:p>
          <a:p>
            <a:pPr algn="just" marL="0" indent="0" lvl="0">
              <a:lnSpc>
                <a:spcPts val="3736"/>
              </a:lnSpc>
            </a:pPr>
            <a:r>
              <a:rPr lang="en-US" sz="2896" u="none">
                <a:solidFill>
                  <a:srgbClr val="343434"/>
                </a:solidFill>
                <a:latin typeface="Inter"/>
                <a:ea typeface="Inter"/>
                <a:cs typeface="Inter"/>
                <a:sym typeface="Inter"/>
              </a:rPr>
              <a:t>3. Rendimiento de médicos (atenciones totales / ticket promedio). </a:t>
            </a:r>
          </a:p>
          <a:p>
            <a:pPr algn="just" marL="0" indent="0" lvl="0">
              <a:lnSpc>
                <a:spcPts val="3736"/>
              </a:lnSpc>
            </a:pPr>
            <a:r>
              <a:rPr lang="en-US" sz="2896" u="none">
                <a:solidFill>
                  <a:srgbClr val="343434"/>
                </a:solidFill>
                <a:latin typeface="Inter"/>
                <a:ea typeface="Inter"/>
                <a:cs typeface="Inter"/>
                <a:sym typeface="Inter"/>
              </a:rPr>
              <a:t>4. Porcentaje de cobertura de seguros médicos. Tiempo promedio por atención. </a:t>
            </a:r>
          </a:p>
          <a:p>
            <a:pPr algn="just" marL="0" indent="0" lvl="0">
              <a:lnSpc>
                <a:spcPts val="3736"/>
              </a:lnSpc>
            </a:pPr>
            <a:r>
              <a:rPr lang="en-US" sz="2896" u="none">
                <a:solidFill>
                  <a:srgbClr val="343434"/>
                </a:solidFill>
                <a:latin typeface="Inter"/>
                <a:ea typeface="Inter"/>
                <a:cs typeface="Inter"/>
                <a:sym typeface="Inter"/>
              </a:rPr>
              <a:t>5. Pacientes recurrentes mensualmente. </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6F9FA"/>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8229600"/>
            <a:chOff x="0" y="0"/>
            <a:chExt cx="4274726" cy="2167467"/>
          </a:xfrm>
        </p:grpSpPr>
        <p:sp>
          <p:nvSpPr>
            <p:cNvPr name="Freeform 3" id="3"/>
            <p:cNvSpPr/>
            <p:nvPr/>
          </p:nvSpPr>
          <p:spPr>
            <a:xfrm flipH="false" flipV="false" rot="0">
              <a:off x="0" y="0"/>
              <a:ext cx="4274726" cy="2167467"/>
            </a:xfrm>
            <a:custGeom>
              <a:avLst/>
              <a:gdLst/>
              <a:ahLst/>
              <a:cxnLst/>
              <a:rect r="r" b="b" t="t" l="l"/>
              <a:pathLst>
                <a:path h="2167467" w="4274726">
                  <a:moveTo>
                    <a:pt x="24327" y="0"/>
                  </a:moveTo>
                  <a:lnTo>
                    <a:pt x="4250399" y="0"/>
                  </a:lnTo>
                  <a:cubicBezTo>
                    <a:pt x="4263834" y="0"/>
                    <a:pt x="4274726" y="10891"/>
                    <a:pt x="4274726" y="24327"/>
                  </a:cubicBezTo>
                  <a:lnTo>
                    <a:pt x="4274726" y="2143140"/>
                  </a:lnTo>
                  <a:cubicBezTo>
                    <a:pt x="4274726" y="2156575"/>
                    <a:pt x="4263834" y="2167467"/>
                    <a:pt x="4250399" y="2167467"/>
                  </a:cubicBezTo>
                  <a:lnTo>
                    <a:pt x="24327" y="2167467"/>
                  </a:lnTo>
                  <a:cubicBezTo>
                    <a:pt x="10891" y="2167467"/>
                    <a:pt x="0" y="2156575"/>
                    <a:pt x="0" y="2143140"/>
                  </a:cubicBezTo>
                  <a:lnTo>
                    <a:pt x="0" y="24327"/>
                  </a:lnTo>
                  <a:cubicBezTo>
                    <a:pt x="0" y="10891"/>
                    <a:pt x="10891" y="0"/>
                    <a:pt x="24327" y="0"/>
                  </a:cubicBezTo>
                  <a:close/>
                </a:path>
              </a:pathLst>
            </a:custGeom>
            <a:solidFill>
              <a:srgbClr val="C3DCEF"/>
            </a:solidFill>
          </p:spPr>
        </p:sp>
        <p:sp>
          <p:nvSpPr>
            <p:cNvPr name="TextBox 4" id="4"/>
            <p:cNvSpPr txBox="true"/>
            <p:nvPr/>
          </p:nvSpPr>
          <p:spPr>
            <a:xfrm>
              <a:off x="0" y="-38100"/>
              <a:ext cx="4274726" cy="2205567"/>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2599301" y="1574807"/>
            <a:ext cx="12854960" cy="1729880"/>
          </a:xfrm>
          <a:prstGeom prst="rect">
            <a:avLst/>
          </a:prstGeom>
        </p:spPr>
        <p:txBody>
          <a:bodyPr anchor="t" rtlCol="false" tIns="0" lIns="0" bIns="0" rIns="0">
            <a:spAutoFit/>
          </a:bodyPr>
          <a:lstStyle/>
          <a:p>
            <a:pPr algn="ctr">
              <a:lnSpc>
                <a:spcPts val="6674"/>
              </a:lnSpc>
            </a:pPr>
            <a:r>
              <a:rPr lang="en-US" b="true" sz="7100" spc="-106">
                <a:solidFill>
                  <a:srgbClr val="4B4B4B"/>
                </a:solidFill>
                <a:latin typeface="Adirek Sans Medium"/>
                <a:ea typeface="Adirek Sans Medium"/>
                <a:cs typeface="Adirek Sans Medium"/>
                <a:sym typeface="Adirek Sans Medium"/>
              </a:rPr>
              <a:t>IMPLEMENTACIÓN Y RESULTADOS (DASHBOARD) </a:t>
            </a:r>
          </a:p>
        </p:txBody>
      </p:sp>
      <p:sp>
        <p:nvSpPr>
          <p:cNvPr name="TextBox 6" id="6"/>
          <p:cNvSpPr txBox="true"/>
          <p:nvPr/>
        </p:nvSpPr>
        <p:spPr>
          <a:xfrm rot="0">
            <a:off x="2078437" y="3497942"/>
            <a:ext cx="14131127" cy="3262540"/>
          </a:xfrm>
          <a:prstGeom prst="rect">
            <a:avLst/>
          </a:prstGeom>
        </p:spPr>
        <p:txBody>
          <a:bodyPr anchor="t" rtlCol="false" tIns="0" lIns="0" bIns="0" rIns="0">
            <a:spAutoFit/>
          </a:bodyPr>
          <a:lstStyle/>
          <a:p>
            <a:pPr algn="just" marL="0" indent="0" lvl="0">
              <a:lnSpc>
                <a:spcPts val="3736"/>
              </a:lnSpc>
            </a:pPr>
            <a:r>
              <a:rPr lang="en-US" sz="2896">
                <a:solidFill>
                  <a:srgbClr val="343434"/>
                </a:solidFill>
                <a:latin typeface="Inter"/>
                <a:ea typeface="Inter"/>
                <a:cs typeface="Inter"/>
                <a:sym typeface="Inter"/>
              </a:rPr>
              <a:t>El </a:t>
            </a:r>
            <a:r>
              <a:rPr lang="en-US" sz="2896" u="none">
                <a:solidFill>
                  <a:srgbClr val="343434"/>
                </a:solidFill>
                <a:latin typeface="Inter"/>
                <a:ea typeface="Inter"/>
                <a:cs typeface="Inter"/>
                <a:sym typeface="Inter"/>
              </a:rPr>
              <a:t>sistema de inteligencia de negocios consolidó exitosamente los datos desde múltiples fuentes en un modelo OLAP unificado. La implementación del ETL permitió obtener un repositorio confiable de información, con un seguimiento detallado de las atenciones, costos, coberturas y desempeño médico. Las consultas analíticas ejecutadas sobre el Data Mart demostraron una mejora significativa en los tiempos de respuesta respecto a las consultas realizadas sobre el modelo transaccional.</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6F9FA"/>
        </a:solidFill>
      </p:bgPr>
    </p:bg>
    <p:spTree>
      <p:nvGrpSpPr>
        <p:cNvPr id="1" name=""/>
        <p:cNvGrpSpPr/>
        <p:nvPr/>
      </p:nvGrpSpPr>
      <p:grpSpPr>
        <a:xfrm>
          <a:off x="0" y="0"/>
          <a:ext cx="0" cy="0"/>
          <a:chOff x="0" y="0"/>
          <a:chExt cx="0" cy="0"/>
        </a:xfrm>
      </p:grpSpPr>
      <p:grpSp>
        <p:nvGrpSpPr>
          <p:cNvPr name="Group 2" id="2"/>
          <p:cNvGrpSpPr/>
          <p:nvPr/>
        </p:nvGrpSpPr>
        <p:grpSpPr>
          <a:xfrm rot="0">
            <a:off x="309879" y="182089"/>
            <a:ext cx="17700189" cy="9858927"/>
            <a:chOff x="0" y="0"/>
            <a:chExt cx="4661778" cy="2596590"/>
          </a:xfrm>
        </p:grpSpPr>
        <p:sp>
          <p:nvSpPr>
            <p:cNvPr name="Freeform 3" id="3"/>
            <p:cNvSpPr/>
            <p:nvPr/>
          </p:nvSpPr>
          <p:spPr>
            <a:xfrm flipH="false" flipV="false" rot="0">
              <a:off x="0" y="0"/>
              <a:ext cx="4661778" cy="2596590"/>
            </a:xfrm>
            <a:custGeom>
              <a:avLst/>
              <a:gdLst/>
              <a:ahLst/>
              <a:cxnLst/>
              <a:rect r="r" b="b" t="t" l="l"/>
              <a:pathLst>
                <a:path h="2596590" w="4661778">
                  <a:moveTo>
                    <a:pt x="22307" y="0"/>
                  </a:moveTo>
                  <a:lnTo>
                    <a:pt x="4639471" y="0"/>
                  </a:lnTo>
                  <a:cubicBezTo>
                    <a:pt x="4651791" y="0"/>
                    <a:pt x="4661778" y="9987"/>
                    <a:pt x="4661778" y="22307"/>
                  </a:cubicBezTo>
                  <a:lnTo>
                    <a:pt x="4661778" y="2574283"/>
                  </a:lnTo>
                  <a:cubicBezTo>
                    <a:pt x="4661778" y="2586603"/>
                    <a:pt x="4651791" y="2596590"/>
                    <a:pt x="4639471" y="2596590"/>
                  </a:cubicBezTo>
                  <a:lnTo>
                    <a:pt x="22307" y="2596590"/>
                  </a:lnTo>
                  <a:cubicBezTo>
                    <a:pt x="9987" y="2596590"/>
                    <a:pt x="0" y="2586603"/>
                    <a:pt x="0" y="2574283"/>
                  </a:cubicBezTo>
                  <a:lnTo>
                    <a:pt x="0" y="22307"/>
                  </a:lnTo>
                  <a:cubicBezTo>
                    <a:pt x="0" y="9987"/>
                    <a:pt x="9987" y="0"/>
                    <a:pt x="22307" y="0"/>
                  </a:cubicBezTo>
                  <a:close/>
                </a:path>
              </a:pathLst>
            </a:custGeom>
            <a:solidFill>
              <a:srgbClr val="C3DCEF"/>
            </a:solidFill>
          </p:spPr>
        </p:sp>
        <p:sp>
          <p:nvSpPr>
            <p:cNvPr name="TextBox 4" id="4"/>
            <p:cNvSpPr txBox="true"/>
            <p:nvPr/>
          </p:nvSpPr>
          <p:spPr>
            <a:xfrm>
              <a:off x="0" y="-38100"/>
              <a:ext cx="4661778" cy="263469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745878" y="425355"/>
            <a:ext cx="16836035" cy="9386089"/>
          </a:xfrm>
          <a:custGeom>
            <a:avLst/>
            <a:gdLst/>
            <a:ahLst/>
            <a:cxnLst/>
            <a:rect r="r" b="b" t="t" l="l"/>
            <a:pathLst>
              <a:path h="9386089" w="16836035">
                <a:moveTo>
                  <a:pt x="0" y="0"/>
                </a:moveTo>
                <a:lnTo>
                  <a:pt x="16836034" y="0"/>
                </a:lnTo>
                <a:lnTo>
                  <a:pt x="16836034" y="9386089"/>
                </a:lnTo>
                <a:lnTo>
                  <a:pt x="0" y="9386089"/>
                </a:lnTo>
                <a:lnTo>
                  <a:pt x="0" y="0"/>
                </a:lnTo>
                <a:close/>
              </a:path>
            </a:pathLst>
          </a:custGeom>
          <a:blipFill>
            <a:blip r:embed="rId2"/>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6F9FA"/>
        </a:solidFill>
      </p:bgPr>
    </p:bg>
    <p:spTree>
      <p:nvGrpSpPr>
        <p:cNvPr id="1" name=""/>
        <p:cNvGrpSpPr/>
        <p:nvPr/>
      </p:nvGrpSpPr>
      <p:grpSpPr>
        <a:xfrm>
          <a:off x="0" y="0"/>
          <a:ext cx="0" cy="0"/>
          <a:chOff x="0" y="0"/>
          <a:chExt cx="0" cy="0"/>
        </a:xfrm>
      </p:grpSpPr>
      <p:sp>
        <p:nvSpPr>
          <p:cNvPr name="Freeform 2" id="2"/>
          <p:cNvSpPr/>
          <p:nvPr/>
        </p:nvSpPr>
        <p:spPr>
          <a:xfrm flipH="false" flipV="false" rot="0">
            <a:off x="8976766" y="2033785"/>
            <a:ext cx="8282534" cy="6219430"/>
          </a:xfrm>
          <a:custGeom>
            <a:avLst/>
            <a:gdLst/>
            <a:ahLst/>
            <a:cxnLst/>
            <a:rect r="r" b="b" t="t" l="l"/>
            <a:pathLst>
              <a:path h="6219430" w="8282534">
                <a:moveTo>
                  <a:pt x="0" y="0"/>
                </a:moveTo>
                <a:lnTo>
                  <a:pt x="8282534" y="0"/>
                </a:lnTo>
                <a:lnTo>
                  <a:pt x="8282534" y="6219430"/>
                </a:lnTo>
                <a:lnTo>
                  <a:pt x="0" y="62194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3052318"/>
            <a:ext cx="7594416" cy="4087021"/>
          </a:xfrm>
          <a:prstGeom prst="rect">
            <a:avLst/>
          </a:prstGeom>
        </p:spPr>
        <p:txBody>
          <a:bodyPr anchor="t" rtlCol="false" tIns="0" lIns="0" bIns="0" rIns="0">
            <a:spAutoFit/>
          </a:bodyPr>
          <a:lstStyle/>
          <a:p>
            <a:pPr algn="l">
              <a:lnSpc>
                <a:spcPts val="15590"/>
              </a:lnSpc>
            </a:pPr>
            <a:r>
              <a:rPr lang="en-US" sz="16585" spc="-248">
                <a:solidFill>
                  <a:srgbClr val="4B4B4B"/>
                </a:solidFill>
                <a:latin typeface="Adirek Sans Light"/>
                <a:ea typeface="Adirek Sans Light"/>
                <a:cs typeface="Adirek Sans Light"/>
                <a:sym typeface="Adirek Sans Light"/>
              </a:rPr>
              <a:t>¡MUCHAS </a:t>
            </a:r>
            <a:r>
              <a:rPr lang="en-US" b="true" sz="16585" spc="-248">
                <a:solidFill>
                  <a:srgbClr val="4B4B4B"/>
                </a:solidFill>
                <a:latin typeface="Adirek Sans Medium"/>
                <a:ea typeface="Adirek Sans Medium"/>
                <a:cs typeface="Adirek Sans Medium"/>
                <a:sym typeface="Adirek Sans Medium"/>
              </a:rPr>
              <a:t>GRACIAS!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DAG38kzqI-c</dc:identifier>
  <dcterms:modified xsi:type="dcterms:W3CDTF">2011-08-01T06:04:30Z</dcterms:modified>
  <cp:revision>1</cp:revision>
  <dc:title>Presentación Medicina Preventiva Corporativo Azul</dc:title>
</cp:coreProperties>
</file>